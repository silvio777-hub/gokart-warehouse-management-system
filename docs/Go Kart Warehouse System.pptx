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4.pn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eist" panose="020B0604020202020204" charset="0"/>
      <p:regular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D048C1-5551-4E53-9B30-45974847C12D}" v="5" dt="2026-01-27T01:15:44.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poka John Modi Silvio" userId="553c34cd-458f-41ac-95bf-03545a74d43f" providerId="ADAL" clId="{AB42D23F-2F2A-49D7-B06F-DEC38369993E}"/>
    <pc:docChg chg="custSel modSld modMainMaster">
      <pc:chgData name="Opoka John Modi Silvio" userId="553c34cd-458f-41ac-95bf-03545a74d43f" providerId="ADAL" clId="{AB42D23F-2F2A-49D7-B06F-DEC38369993E}" dt="2026-01-27T01:18:02.653" v="140" actId="1076"/>
      <pc:docMkLst>
        <pc:docMk/>
      </pc:docMkLst>
      <pc:sldChg chg="addSp modSp mod">
        <pc:chgData name="Opoka John Modi Silvio" userId="553c34cd-458f-41ac-95bf-03545a74d43f" providerId="ADAL" clId="{AB42D23F-2F2A-49D7-B06F-DEC38369993E}" dt="2026-01-27T01:18:02.653" v="140" actId="1076"/>
        <pc:sldMkLst>
          <pc:docMk/>
          <pc:sldMk cId="0" sldId="256"/>
        </pc:sldMkLst>
        <pc:spChg chg="mod">
          <ac:chgData name="Opoka John Modi Silvio" userId="553c34cd-458f-41ac-95bf-03545a74d43f" providerId="ADAL" clId="{AB42D23F-2F2A-49D7-B06F-DEC38369993E}" dt="2026-01-27T01:17:43.470" v="138" actId="14100"/>
          <ac:spMkLst>
            <pc:docMk/>
            <pc:sldMk cId="0" sldId="256"/>
            <ac:spMk id="3" creationId="{00000000-0000-0000-0000-000000000000}"/>
          </ac:spMkLst>
        </pc:spChg>
        <pc:spChg chg="mod">
          <ac:chgData name="Opoka John Modi Silvio" userId="553c34cd-458f-41ac-95bf-03545a74d43f" providerId="ADAL" clId="{AB42D23F-2F2A-49D7-B06F-DEC38369993E}" dt="2026-01-27T01:17:54.509" v="139" actId="14100"/>
          <ac:spMkLst>
            <pc:docMk/>
            <pc:sldMk cId="0" sldId="256"/>
            <ac:spMk id="4" creationId="{00000000-0000-0000-0000-000000000000}"/>
          </ac:spMkLst>
        </pc:spChg>
        <pc:spChg chg="add mod">
          <ac:chgData name="Opoka John Modi Silvio" userId="553c34cd-458f-41ac-95bf-03545a74d43f" providerId="ADAL" clId="{AB42D23F-2F2A-49D7-B06F-DEC38369993E}" dt="2026-01-27T01:18:02.653" v="140" actId="1076"/>
          <ac:spMkLst>
            <pc:docMk/>
            <pc:sldMk cId="0" sldId="256"/>
            <ac:spMk id="5" creationId="{F03E1475-4265-8E27-2B5F-66EA38C5F451}"/>
          </ac:spMkLst>
        </pc:spChg>
      </pc:sldChg>
      <pc:sldChg chg="addSp modSp mod">
        <pc:chgData name="Opoka John Modi Silvio" userId="553c34cd-458f-41ac-95bf-03545a74d43f" providerId="ADAL" clId="{AB42D23F-2F2A-49D7-B06F-DEC38369993E}" dt="2026-01-27T01:12:51.508" v="16" actId="1076"/>
        <pc:sldMkLst>
          <pc:docMk/>
          <pc:sldMk cId="0" sldId="259"/>
        </pc:sldMkLst>
        <pc:spChg chg="mod">
          <ac:chgData name="Opoka John Modi Silvio" userId="553c34cd-458f-41ac-95bf-03545a74d43f" providerId="ADAL" clId="{AB42D23F-2F2A-49D7-B06F-DEC38369993E}" dt="2026-01-27T01:03:16.756" v="1" actId="1076"/>
          <ac:spMkLst>
            <pc:docMk/>
            <pc:sldMk cId="0" sldId="259"/>
            <ac:spMk id="2" creationId="{00000000-0000-0000-0000-000000000000}"/>
          </ac:spMkLst>
        </pc:spChg>
        <pc:spChg chg="mod">
          <ac:chgData name="Opoka John Modi Silvio" userId="553c34cd-458f-41ac-95bf-03545a74d43f" providerId="ADAL" clId="{AB42D23F-2F2A-49D7-B06F-DEC38369993E}" dt="2026-01-27T01:04:12.645" v="11" actId="14100"/>
          <ac:spMkLst>
            <pc:docMk/>
            <pc:sldMk cId="0" sldId="259"/>
            <ac:spMk id="3" creationId="{00000000-0000-0000-0000-000000000000}"/>
          </ac:spMkLst>
        </pc:spChg>
        <pc:picChg chg="add mod">
          <ac:chgData name="Opoka John Modi Silvio" userId="553c34cd-458f-41ac-95bf-03545a74d43f" providerId="ADAL" clId="{AB42D23F-2F2A-49D7-B06F-DEC38369993E}" dt="2026-01-27T01:12:51.508" v="16" actId="1076"/>
          <ac:picMkLst>
            <pc:docMk/>
            <pc:sldMk cId="0" sldId="259"/>
            <ac:picMk id="4" creationId="{F13EEF93-0890-3C8D-E1A2-3AB92EB4E567}"/>
          </ac:picMkLst>
        </pc:picChg>
      </pc:sldChg>
      <pc:sldMasterChg chg="modSldLayout">
        <pc:chgData name="Opoka John Modi Silvio" userId="553c34cd-458f-41ac-95bf-03545a74d43f" providerId="ADAL" clId="{AB42D23F-2F2A-49D7-B06F-DEC38369993E}" dt="2026-01-27T01:01:39.665" v="0"/>
        <pc:sldMasterMkLst>
          <pc:docMk/>
          <pc:sldMasterMk cId="2274608141" sldId="2147483660"/>
        </pc:sldMasterMkLst>
        <pc:sldLayoutChg chg="delSp">
          <pc:chgData name="Opoka John Modi Silvio" userId="553c34cd-458f-41ac-95bf-03545a74d43f" providerId="ADAL" clId="{AB42D23F-2F2A-49D7-B06F-DEC38369993E}" dt="2026-01-27T01:01:39.665" v="0"/>
          <pc:sldLayoutMkLst>
            <pc:docMk/>
            <pc:sldMasterMk cId="2274608141" sldId="2147483660"/>
            <pc:sldLayoutMk cId="2364848675" sldId="2147483672"/>
          </pc:sldLayoutMkLst>
          <pc:spChg chg="del">
            <ac:chgData name="Opoka John Modi Silvio" userId="553c34cd-458f-41ac-95bf-03545a74d43f" providerId="ADAL" clId="{AB42D23F-2F2A-49D7-B06F-DEC38369993E}" dt="2026-01-27T01:01:39.665" v="0"/>
            <ac:spMkLst>
              <pc:docMk/>
              <pc:sldMasterMk cId="2274608141" sldId="2147483660"/>
              <pc:sldLayoutMk cId="2364848675" sldId="2147483672"/>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2364848675" sldId="2147483672"/>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2364848675" sldId="2147483672"/>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3976275733" sldId="2147483673"/>
          </pc:sldLayoutMkLst>
          <pc:spChg chg="del">
            <ac:chgData name="Opoka John Modi Silvio" userId="553c34cd-458f-41ac-95bf-03545a74d43f" providerId="ADAL" clId="{AB42D23F-2F2A-49D7-B06F-DEC38369993E}" dt="2026-01-27T01:01:39.665" v="0"/>
            <ac:spMkLst>
              <pc:docMk/>
              <pc:sldMasterMk cId="2274608141" sldId="2147483660"/>
              <pc:sldLayoutMk cId="3976275733" sldId="2147483673"/>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3976275733" sldId="2147483673"/>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3976275733" sldId="2147483673"/>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3026478587" sldId="2147483674"/>
          </pc:sldLayoutMkLst>
          <pc:spChg chg="del">
            <ac:chgData name="Opoka John Modi Silvio" userId="553c34cd-458f-41ac-95bf-03545a74d43f" providerId="ADAL" clId="{AB42D23F-2F2A-49D7-B06F-DEC38369993E}" dt="2026-01-27T01:01:39.665" v="0"/>
            <ac:spMkLst>
              <pc:docMk/>
              <pc:sldMasterMk cId="2274608141" sldId="2147483660"/>
              <pc:sldLayoutMk cId="3026478587" sldId="2147483674"/>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3026478587" sldId="2147483674"/>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3026478587" sldId="2147483674"/>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1557967149" sldId="2147483675"/>
          </pc:sldLayoutMkLst>
          <pc:spChg chg="del">
            <ac:chgData name="Opoka John Modi Silvio" userId="553c34cd-458f-41ac-95bf-03545a74d43f" providerId="ADAL" clId="{AB42D23F-2F2A-49D7-B06F-DEC38369993E}" dt="2026-01-27T01:01:39.665" v="0"/>
            <ac:spMkLst>
              <pc:docMk/>
              <pc:sldMasterMk cId="2274608141" sldId="2147483660"/>
              <pc:sldLayoutMk cId="1557967149" sldId="2147483675"/>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1557967149" sldId="2147483675"/>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1557967149" sldId="2147483675"/>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3150340209" sldId="2147483676"/>
          </pc:sldLayoutMkLst>
          <pc:spChg chg="del">
            <ac:chgData name="Opoka John Modi Silvio" userId="553c34cd-458f-41ac-95bf-03545a74d43f" providerId="ADAL" clId="{AB42D23F-2F2A-49D7-B06F-DEC38369993E}" dt="2026-01-27T01:01:39.665" v="0"/>
            <ac:spMkLst>
              <pc:docMk/>
              <pc:sldMasterMk cId="2274608141" sldId="2147483660"/>
              <pc:sldLayoutMk cId="3150340209" sldId="2147483676"/>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3150340209" sldId="2147483676"/>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3150340209" sldId="2147483676"/>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2703411910" sldId="2147483677"/>
          </pc:sldLayoutMkLst>
          <pc:spChg chg="del">
            <ac:chgData name="Opoka John Modi Silvio" userId="553c34cd-458f-41ac-95bf-03545a74d43f" providerId="ADAL" clId="{AB42D23F-2F2A-49D7-B06F-DEC38369993E}" dt="2026-01-27T01:01:39.665" v="0"/>
            <ac:spMkLst>
              <pc:docMk/>
              <pc:sldMasterMk cId="2274608141" sldId="2147483660"/>
              <pc:sldLayoutMk cId="2703411910" sldId="2147483677"/>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2703411910" sldId="2147483677"/>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2703411910" sldId="2147483677"/>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3926287530" sldId="2147483678"/>
          </pc:sldLayoutMkLst>
          <pc:spChg chg="del">
            <ac:chgData name="Opoka John Modi Silvio" userId="553c34cd-458f-41ac-95bf-03545a74d43f" providerId="ADAL" clId="{AB42D23F-2F2A-49D7-B06F-DEC38369993E}" dt="2026-01-27T01:01:39.665" v="0"/>
            <ac:spMkLst>
              <pc:docMk/>
              <pc:sldMasterMk cId="2274608141" sldId="2147483660"/>
              <pc:sldLayoutMk cId="3926287530" sldId="2147483678"/>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3926287530" sldId="2147483678"/>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3926287530" sldId="2147483678"/>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3673091053" sldId="2147483679"/>
          </pc:sldLayoutMkLst>
          <pc:spChg chg="del">
            <ac:chgData name="Opoka John Modi Silvio" userId="553c34cd-458f-41ac-95bf-03545a74d43f" providerId="ADAL" clId="{AB42D23F-2F2A-49D7-B06F-DEC38369993E}" dt="2026-01-27T01:01:39.665" v="0"/>
            <ac:spMkLst>
              <pc:docMk/>
              <pc:sldMasterMk cId="2274608141" sldId="2147483660"/>
              <pc:sldLayoutMk cId="3673091053" sldId="2147483679"/>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3673091053" sldId="2147483679"/>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3673091053" sldId="2147483679"/>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602964189" sldId="2147483680"/>
          </pc:sldLayoutMkLst>
          <pc:spChg chg="del">
            <ac:chgData name="Opoka John Modi Silvio" userId="553c34cd-458f-41ac-95bf-03545a74d43f" providerId="ADAL" clId="{AB42D23F-2F2A-49D7-B06F-DEC38369993E}" dt="2026-01-27T01:01:39.665" v="0"/>
            <ac:spMkLst>
              <pc:docMk/>
              <pc:sldMasterMk cId="2274608141" sldId="2147483660"/>
              <pc:sldLayoutMk cId="602964189" sldId="2147483680"/>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602964189" sldId="2147483680"/>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602964189" sldId="2147483680"/>
              <ac:picMk id="4" creationId="{00000000-0000-0000-0000-000000000000}"/>
            </ac:picMkLst>
          </pc:picChg>
        </pc:sldLayoutChg>
        <pc:sldLayoutChg chg="delSp">
          <pc:chgData name="Opoka John Modi Silvio" userId="553c34cd-458f-41ac-95bf-03545a74d43f" providerId="ADAL" clId="{AB42D23F-2F2A-49D7-B06F-DEC38369993E}" dt="2026-01-27T01:01:39.665" v="0"/>
          <pc:sldLayoutMkLst>
            <pc:docMk/>
            <pc:sldMasterMk cId="2274608141" sldId="2147483660"/>
            <pc:sldLayoutMk cId="1502147549" sldId="2147483681"/>
          </pc:sldLayoutMkLst>
          <pc:spChg chg="del">
            <ac:chgData name="Opoka John Modi Silvio" userId="553c34cd-458f-41ac-95bf-03545a74d43f" providerId="ADAL" clId="{AB42D23F-2F2A-49D7-B06F-DEC38369993E}" dt="2026-01-27T01:01:39.665" v="0"/>
            <ac:spMkLst>
              <pc:docMk/>
              <pc:sldMasterMk cId="2274608141" sldId="2147483660"/>
              <pc:sldLayoutMk cId="1502147549" sldId="2147483681"/>
              <ac:spMk id="3" creationId="{00000000-0000-0000-0000-000000000000}"/>
            </ac:spMkLst>
          </pc:spChg>
          <pc:picChg chg="del">
            <ac:chgData name="Opoka John Modi Silvio" userId="553c34cd-458f-41ac-95bf-03545a74d43f" providerId="ADAL" clId="{AB42D23F-2F2A-49D7-B06F-DEC38369993E}" dt="2026-01-27T01:01:39.665" v="0"/>
            <ac:picMkLst>
              <pc:docMk/>
              <pc:sldMasterMk cId="2274608141" sldId="2147483660"/>
              <pc:sldLayoutMk cId="1502147549" sldId="2147483681"/>
              <ac:picMk id="2" creationId="{00000000-0000-0000-0000-000000000000}"/>
            </ac:picMkLst>
          </pc:picChg>
          <pc:picChg chg="del">
            <ac:chgData name="Opoka John Modi Silvio" userId="553c34cd-458f-41ac-95bf-03545a74d43f" providerId="ADAL" clId="{AB42D23F-2F2A-49D7-B06F-DEC38369993E}" dt="2026-01-27T01:01:39.665" v="0"/>
            <ac:picMkLst>
              <pc:docMk/>
              <pc:sldMasterMk cId="2274608141" sldId="2147483660"/>
              <pc:sldLayoutMk cId="1502147549" sldId="2147483681"/>
              <ac:picMk id="4"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75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27-Jan-26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4924040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27-Jan-26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643050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27-Jan-26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945413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27-Jan-26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341579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27-Jan-26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599205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27-Jan-26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691059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27-Jan-26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1427191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27-Jan-26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644362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27-Jan-26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2730487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27-Jan-26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9230033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27-Jan-26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242582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142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734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130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94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7887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158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9882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5219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577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39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90298CD5-6C1E-4009-B41F-6DF62E31D3BE}" type="datetimeFigureOut">
              <a:rPr lang="en-US" smtClean="0"/>
              <a:pPr/>
              <a:t>27-Jan-26</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67922089"/>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0.xml"/><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944460"/>
            <a:ext cx="8037389" cy="2126337"/>
          </a:xfrm>
          <a:prstGeom prst="rect">
            <a:avLst/>
          </a:prstGeom>
          <a:noFill/>
          <a:ln/>
        </p:spPr>
        <p:txBody>
          <a:bodyPr wrap="squar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Go Kart Warehouse System: Operational Excellence Unleashed</a:t>
            </a:r>
            <a:endParaRPr lang="en-US" sz="4450" dirty="0"/>
          </a:p>
        </p:txBody>
      </p:sp>
      <p:sp>
        <p:nvSpPr>
          <p:cNvPr id="4" name="Text 1"/>
          <p:cNvSpPr/>
          <p:nvPr/>
        </p:nvSpPr>
        <p:spPr>
          <a:xfrm>
            <a:off x="709716" y="4860758"/>
            <a:ext cx="7796906" cy="2755093"/>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The Go Kart Warehouse System is an enterprise-grade, full-stack application meticulously engineered to streamline the intricate operations of a professional go-karting facility. This system centralizes fleet management, automates maintenance scheduling, and optimizes inventory control, providing a robust platform for unparalleled operational efficiency.</a:t>
            </a:r>
            <a:endParaRPr lang="en-US" sz="1750" dirty="0"/>
          </a:p>
        </p:txBody>
      </p:sp>
      <p:sp>
        <p:nvSpPr>
          <p:cNvPr id="5" name="TextBox 4">
            <a:extLst>
              <a:ext uri="{FF2B5EF4-FFF2-40B4-BE49-F238E27FC236}">
                <a16:creationId xmlns:a16="http://schemas.microsoft.com/office/drawing/2014/main" id="{F03E1475-4265-8E27-2B5F-66EA38C5F451}"/>
              </a:ext>
            </a:extLst>
          </p:cNvPr>
          <p:cNvSpPr txBox="1"/>
          <p:nvPr/>
        </p:nvSpPr>
        <p:spPr>
          <a:xfrm>
            <a:off x="709715" y="1215327"/>
            <a:ext cx="8037389" cy="1169551"/>
          </a:xfrm>
          <a:prstGeom prst="rect">
            <a:avLst/>
          </a:prstGeom>
          <a:noFill/>
        </p:spPr>
        <p:txBody>
          <a:bodyPr wrap="square" rtlCol="0">
            <a:spAutoFit/>
          </a:bodyPr>
          <a:lstStyle/>
          <a:p>
            <a:pPr algn="ctr"/>
            <a:r>
              <a:rPr lang="en-US" sz="3500" b="1" dirty="0">
                <a:solidFill>
                  <a:srgbClr val="006747"/>
                </a:solidFill>
                <a:latin typeface="Times New Roman" panose="02020603050405020304" pitchFamily="18" charset="0"/>
                <a:ea typeface="Noto Serif SC Bold" pitchFamily="34" charset="-122"/>
                <a:cs typeface="Times New Roman" panose="02020603050405020304" pitchFamily="18" charset="0"/>
              </a:rPr>
              <a:t>Presented By </a:t>
            </a:r>
          </a:p>
          <a:p>
            <a:pPr algn="ctr"/>
            <a:r>
              <a:rPr lang="en-US" sz="3500" b="1" dirty="0">
                <a:solidFill>
                  <a:srgbClr val="006747"/>
                </a:solidFill>
                <a:latin typeface="Times New Roman" panose="02020603050405020304" pitchFamily="18" charset="0"/>
                <a:ea typeface="Noto Serif SC Bold" pitchFamily="34" charset="-122"/>
                <a:cs typeface="Times New Roman" panose="02020603050405020304" pitchFamily="18" charset="0"/>
              </a:rPr>
              <a:t>Opoka John Modi Silvio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175058" y="862132"/>
            <a:ext cx="7766685" cy="1229916"/>
          </a:xfrm>
          <a:prstGeom prst="rect">
            <a:avLst/>
          </a:prstGeom>
          <a:noFill/>
          <a:ln/>
        </p:spPr>
        <p:txBody>
          <a:bodyPr wrap="square" lIns="0" tIns="0" rIns="0" bIns="0" rtlCol="0" anchor="t"/>
          <a:lstStyle/>
          <a:p>
            <a:pPr marL="0" indent="0" algn="l">
              <a:lnSpc>
                <a:spcPts val="4800"/>
              </a:lnSpc>
              <a:buNone/>
            </a:pPr>
            <a:r>
              <a:rPr lang="en-US" sz="3850" b="1" dirty="0">
                <a:solidFill>
                  <a:srgbClr val="006747"/>
                </a:solidFill>
                <a:latin typeface="Noto Serif SC Bold" pitchFamily="34" charset="0"/>
                <a:ea typeface="Noto Serif SC Bold" pitchFamily="34" charset="-122"/>
                <a:cs typeface="Noto Serif SC Bold" pitchFamily="34" charset="-120"/>
              </a:rPr>
              <a:t>Architectural Foundation: Decoupled &amp; Resilient</a:t>
            </a:r>
            <a:endParaRPr lang="en-US" sz="3850" dirty="0"/>
          </a:p>
        </p:txBody>
      </p:sp>
      <p:sp>
        <p:nvSpPr>
          <p:cNvPr id="4" name="Text 1"/>
          <p:cNvSpPr/>
          <p:nvPr/>
        </p:nvSpPr>
        <p:spPr>
          <a:xfrm>
            <a:off x="6175058" y="2387084"/>
            <a:ext cx="7766685" cy="944404"/>
          </a:xfrm>
          <a:prstGeom prst="rect">
            <a:avLst/>
          </a:prstGeom>
          <a:noFill/>
          <a:ln/>
        </p:spPr>
        <p:txBody>
          <a:bodyPr wrap="square" lIns="0" tIns="0" rIns="0" bIns="0" rtlCol="0" anchor="t"/>
          <a:lstStyle/>
          <a:p>
            <a:pPr marL="0" indent="0" algn="l">
              <a:lnSpc>
                <a:spcPts val="2450"/>
              </a:lnSpc>
              <a:buNone/>
            </a:pPr>
            <a:r>
              <a:rPr lang="en-US" sz="1500" dirty="0">
                <a:solidFill>
                  <a:srgbClr val="4B4A4A"/>
                </a:solidFill>
                <a:latin typeface="Geist" pitchFamily="34" charset="0"/>
                <a:ea typeface="Geist" pitchFamily="34" charset="-122"/>
                <a:cs typeface="Geist" pitchFamily="34" charset="-120"/>
              </a:rPr>
              <a:t>The application employs a decoupled architecture, leveraging a Spring Boot backend and an Angular frontend. This design ensures high performance, maintainability, and a clear separation of concerns, critical for complex enterprise applications.</a:t>
            </a:r>
            <a:endParaRPr lang="en-US" sz="1500" dirty="0"/>
          </a:p>
        </p:txBody>
      </p:sp>
      <p:sp>
        <p:nvSpPr>
          <p:cNvPr id="5" name="Shape 2"/>
          <p:cNvSpPr/>
          <p:nvPr/>
        </p:nvSpPr>
        <p:spPr>
          <a:xfrm>
            <a:off x="6175058" y="3552825"/>
            <a:ext cx="3784997" cy="2123718"/>
          </a:xfrm>
          <a:prstGeom prst="roundRect">
            <a:avLst>
              <a:gd name="adj" fmla="val 8339"/>
            </a:avLst>
          </a:prstGeom>
          <a:solidFill>
            <a:srgbClr val="E5F9F2">
              <a:alpha val="95000"/>
            </a:srgbClr>
          </a:solidFill>
          <a:ln w="22860">
            <a:solidFill>
              <a:srgbClr val="B7D5CA"/>
            </a:solidFill>
            <a:prstDash val="solid"/>
          </a:ln>
        </p:spPr>
        <p:txBody>
          <a:bodyPr/>
          <a:lstStyle/>
          <a:p>
            <a:endParaRPr lang="en-US"/>
          </a:p>
        </p:txBody>
      </p:sp>
      <p:sp>
        <p:nvSpPr>
          <p:cNvPr id="6" name="Text 3"/>
          <p:cNvSpPr/>
          <p:nvPr/>
        </p:nvSpPr>
        <p:spPr>
          <a:xfrm>
            <a:off x="6394609" y="3772376"/>
            <a:ext cx="2459474" cy="307419"/>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Presentation Layer</a:t>
            </a:r>
            <a:endParaRPr lang="en-US" sz="1900" dirty="0"/>
          </a:p>
        </p:txBody>
      </p:sp>
      <p:sp>
        <p:nvSpPr>
          <p:cNvPr id="7" name="Text 4"/>
          <p:cNvSpPr/>
          <p:nvPr/>
        </p:nvSpPr>
        <p:spPr>
          <a:xfrm>
            <a:off x="6394609" y="4197787"/>
            <a:ext cx="3345894" cy="944404"/>
          </a:xfrm>
          <a:prstGeom prst="rect">
            <a:avLst/>
          </a:prstGeom>
          <a:noFill/>
          <a:ln/>
        </p:spPr>
        <p:txBody>
          <a:bodyPr wrap="square" lIns="0" tIns="0" rIns="0" bIns="0" rtlCol="0" anchor="t"/>
          <a:lstStyle/>
          <a:p>
            <a:pPr marL="0" indent="0" algn="l">
              <a:lnSpc>
                <a:spcPts val="2450"/>
              </a:lnSpc>
              <a:buNone/>
            </a:pPr>
            <a:r>
              <a:rPr lang="en-US" sz="1500" dirty="0">
                <a:solidFill>
                  <a:srgbClr val="4B4A4A"/>
                </a:solidFill>
                <a:latin typeface="Geist" pitchFamily="34" charset="0"/>
                <a:ea typeface="Geist" pitchFamily="34" charset="-122"/>
                <a:cs typeface="Geist" pitchFamily="34" charset="-120"/>
              </a:rPr>
              <a:t>Angular 21: A reactive Single Page Application (SPA) managing state via RxJS for real-time UI feedback.</a:t>
            </a:r>
            <a:endParaRPr lang="en-US" sz="1500" dirty="0"/>
          </a:p>
        </p:txBody>
      </p:sp>
      <p:sp>
        <p:nvSpPr>
          <p:cNvPr id="8" name="Shape 5"/>
          <p:cNvSpPr/>
          <p:nvPr/>
        </p:nvSpPr>
        <p:spPr>
          <a:xfrm>
            <a:off x="10156746" y="3552825"/>
            <a:ext cx="3784997" cy="2123718"/>
          </a:xfrm>
          <a:prstGeom prst="roundRect">
            <a:avLst>
              <a:gd name="adj" fmla="val 8339"/>
            </a:avLst>
          </a:prstGeom>
          <a:solidFill>
            <a:srgbClr val="E5F9F2">
              <a:alpha val="95000"/>
            </a:srgbClr>
          </a:solidFill>
          <a:ln w="22860">
            <a:solidFill>
              <a:srgbClr val="B7D5CA"/>
            </a:solidFill>
            <a:prstDash val="solid"/>
          </a:ln>
        </p:spPr>
        <p:txBody>
          <a:bodyPr/>
          <a:lstStyle/>
          <a:p>
            <a:endParaRPr lang="en-US"/>
          </a:p>
        </p:txBody>
      </p:sp>
      <p:sp>
        <p:nvSpPr>
          <p:cNvPr id="9" name="Text 6"/>
          <p:cNvSpPr/>
          <p:nvPr/>
        </p:nvSpPr>
        <p:spPr>
          <a:xfrm>
            <a:off x="10376297" y="3772376"/>
            <a:ext cx="2459474" cy="307419"/>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Service Layer</a:t>
            </a:r>
            <a:endParaRPr lang="en-US" sz="1900" dirty="0"/>
          </a:p>
        </p:txBody>
      </p:sp>
      <p:sp>
        <p:nvSpPr>
          <p:cNvPr id="10" name="Text 7"/>
          <p:cNvSpPr/>
          <p:nvPr/>
        </p:nvSpPr>
        <p:spPr>
          <a:xfrm>
            <a:off x="10376297" y="4197787"/>
            <a:ext cx="3345894" cy="1259205"/>
          </a:xfrm>
          <a:prstGeom prst="rect">
            <a:avLst/>
          </a:prstGeom>
          <a:noFill/>
          <a:ln/>
        </p:spPr>
        <p:txBody>
          <a:bodyPr wrap="square" lIns="0" tIns="0" rIns="0" bIns="0" rtlCol="0" anchor="t"/>
          <a:lstStyle/>
          <a:p>
            <a:pPr marL="0" indent="0" algn="l">
              <a:lnSpc>
                <a:spcPts val="2450"/>
              </a:lnSpc>
              <a:buNone/>
            </a:pPr>
            <a:r>
              <a:rPr lang="en-US" sz="1500" dirty="0">
                <a:solidFill>
                  <a:srgbClr val="4B4A4A"/>
                </a:solidFill>
                <a:latin typeface="Geist" pitchFamily="34" charset="0"/>
                <a:ea typeface="Geist" pitchFamily="34" charset="-122"/>
                <a:cs typeface="Geist" pitchFamily="34" charset="-120"/>
              </a:rPr>
              <a:t>Spring Boot 3: Handles complex business logic, secures endpoints with JWT, and orchestrates RESTful APIs.</a:t>
            </a:r>
            <a:endParaRPr lang="en-US" sz="1500" dirty="0"/>
          </a:p>
        </p:txBody>
      </p:sp>
      <p:sp>
        <p:nvSpPr>
          <p:cNvPr id="11" name="Shape 8"/>
          <p:cNvSpPr/>
          <p:nvPr/>
        </p:nvSpPr>
        <p:spPr>
          <a:xfrm>
            <a:off x="6175058" y="5873234"/>
            <a:ext cx="7766685" cy="1494115"/>
          </a:xfrm>
          <a:prstGeom prst="roundRect">
            <a:avLst>
              <a:gd name="adj" fmla="val 11853"/>
            </a:avLst>
          </a:prstGeom>
          <a:solidFill>
            <a:srgbClr val="E5F9F2">
              <a:alpha val="95000"/>
            </a:srgbClr>
          </a:solidFill>
          <a:ln w="22860">
            <a:solidFill>
              <a:srgbClr val="B7D5CA"/>
            </a:solidFill>
            <a:prstDash val="solid"/>
          </a:ln>
        </p:spPr>
        <p:txBody>
          <a:bodyPr/>
          <a:lstStyle/>
          <a:p>
            <a:endParaRPr lang="en-US"/>
          </a:p>
        </p:txBody>
      </p:sp>
      <p:sp>
        <p:nvSpPr>
          <p:cNvPr id="12" name="Text 9"/>
          <p:cNvSpPr/>
          <p:nvPr/>
        </p:nvSpPr>
        <p:spPr>
          <a:xfrm>
            <a:off x="6394609" y="6092785"/>
            <a:ext cx="2459474" cy="307419"/>
          </a:xfrm>
          <a:prstGeom prst="rect">
            <a:avLst/>
          </a:prstGeom>
          <a:noFill/>
          <a:ln/>
        </p:spPr>
        <p:txBody>
          <a:bodyPr wrap="none" lIns="0" tIns="0" rIns="0" bIns="0" rtlCol="0" anchor="t"/>
          <a:lstStyle/>
          <a:p>
            <a:pPr marL="0" indent="0" algn="l">
              <a:lnSpc>
                <a:spcPts val="2400"/>
              </a:lnSpc>
              <a:buNone/>
            </a:pPr>
            <a:r>
              <a:rPr lang="en-US" sz="1900" b="1" dirty="0">
                <a:solidFill>
                  <a:srgbClr val="4B4A4A"/>
                </a:solidFill>
                <a:latin typeface="Noto Serif SC Bold" pitchFamily="34" charset="0"/>
                <a:ea typeface="Noto Serif SC Bold" pitchFamily="34" charset="-122"/>
                <a:cs typeface="Noto Serif SC Bold" pitchFamily="34" charset="-120"/>
              </a:rPr>
              <a:t>Data Layer</a:t>
            </a:r>
            <a:endParaRPr lang="en-US" sz="1900" dirty="0"/>
          </a:p>
        </p:txBody>
      </p:sp>
      <p:sp>
        <p:nvSpPr>
          <p:cNvPr id="13" name="Text 10"/>
          <p:cNvSpPr/>
          <p:nvPr/>
        </p:nvSpPr>
        <p:spPr>
          <a:xfrm>
            <a:off x="6394609" y="6518196"/>
            <a:ext cx="7327583" cy="629603"/>
          </a:xfrm>
          <a:prstGeom prst="rect">
            <a:avLst/>
          </a:prstGeom>
          <a:noFill/>
          <a:ln/>
        </p:spPr>
        <p:txBody>
          <a:bodyPr wrap="square" lIns="0" tIns="0" rIns="0" bIns="0" rtlCol="0" anchor="t"/>
          <a:lstStyle/>
          <a:p>
            <a:pPr marL="0" indent="0" algn="l">
              <a:lnSpc>
                <a:spcPts val="2450"/>
              </a:lnSpc>
              <a:buNone/>
            </a:pPr>
            <a:r>
              <a:rPr lang="en-US" sz="1500" dirty="0">
                <a:solidFill>
                  <a:srgbClr val="4B4A4A"/>
                </a:solidFill>
                <a:latin typeface="Geist" pitchFamily="34" charset="0"/>
                <a:ea typeface="Geist" pitchFamily="34" charset="-122"/>
                <a:cs typeface="Geist" pitchFamily="34" charset="-120"/>
              </a:rPr>
              <a:t>PostgreSQL/H2: Ensures persistent, ACID-compliant storage for all critical operational and archival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76676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Robust Technical Specifications</a:t>
            </a:r>
            <a:endParaRPr lang="en-US" sz="4450" dirty="0"/>
          </a:p>
        </p:txBody>
      </p:sp>
      <p:sp>
        <p:nvSpPr>
          <p:cNvPr id="4" name="Text 1"/>
          <p:cNvSpPr/>
          <p:nvPr/>
        </p:nvSpPr>
        <p:spPr>
          <a:xfrm>
            <a:off x="793790" y="252448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The system is built upon a foundation of industry-leading technologies, ensuring scalability, security, and performance.</a:t>
            </a:r>
            <a:endParaRPr lang="en-US" sz="1750" dirty="0"/>
          </a:p>
        </p:txBody>
      </p:sp>
      <p:sp>
        <p:nvSpPr>
          <p:cNvPr id="5" name="Text 2"/>
          <p:cNvSpPr/>
          <p:nvPr/>
        </p:nvSpPr>
        <p:spPr>
          <a:xfrm>
            <a:off x="793790" y="3732252"/>
            <a:ext cx="3501509" cy="566976"/>
          </a:xfrm>
          <a:prstGeom prst="rect">
            <a:avLst/>
          </a:prstGeom>
          <a:noFill/>
          <a:ln/>
        </p:spPr>
        <p:txBody>
          <a:bodyPr wrap="non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Backend Stack</a:t>
            </a:r>
            <a:endParaRPr lang="en-US" sz="3550" dirty="0"/>
          </a:p>
        </p:txBody>
      </p:sp>
      <p:sp>
        <p:nvSpPr>
          <p:cNvPr id="6" name="Text 3"/>
          <p:cNvSpPr/>
          <p:nvPr/>
        </p:nvSpPr>
        <p:spPr>
          <a:xfrm>
            <a:off x="793790" y="4526042"/>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Language:</a:t>
            </a:r>
            <a:r>
              <a:rPr lang="en-US" sz="1750" dirty="0">
                <a:solidFill>
                  <a:srgbClr val="4B4A4A"/>
                </a:solidFill>
                <a:latin typeface="Geist" pitchFamily="34" charset="0"/>
                <a:ea typeface="Geist" pitchFamily="34" charset="-122"/>
                <a:cs typeface="Geist" pitchFamily="34" charset="-120"/>
              </a:rPr>
              <a:t> Java 21 (LTS)</a:t>
            </a:r>
            <a:endParaRPr lang="en-US" sz="1750" dirty="0"/>
          </a:p>
        </p:txBody>
      </p:sp>
      <p:sp>
        <p:nvSpPr>
          <p:cNvPr id="7" name="Text 4"/>
          <p:cNvSpPr/>
          <p:nvPr/>
        </p:nvSpPr>
        <p:spPr>
          <a:xfrm>
            <a:off x="793790" y="4968240"/>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Framework:</a:t>
            </a:r>
            <a:r>
              <a:rPr lang="en-US" sz="1750" dirty="0">
                <a:solidFill>
                  <a:srgbClr val="4B4A4A"/>
                </a:solidFill>
                <a:latin typeface="Geist" pitchFamily="34" charset="0"/>
                <a:ea typeface="Geist" pitchFamily="34" charset="-122"/>
                <a:cs typeface="Geist" pitchFamily="34" charset="-120"/>
              </a:rPr>
              <a:t> Spring Boot 3.x</a:t>
            </a:r>
            <a:endParaRPr lang="en-US" sz="1750" dirty="0"/>
          </a:p>
        </p:txBody>
      </p:sp>
      <p:sp>
        <p:nvSpPr>
          <p:cNvPr id="8" name="Text 5"/>
          <p:cNvSpPr/>
          <p:nvPr/>
        </p:nvSpPr>
        <p:spPr>
          <a:xfrm>
            <a:off x="793790" y="54104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Security:</a:t>
            </a:r>
            <a:r>
              <a:rPr lang="en-US" sz="1750" dirty="0">
                <a:solidFill>
                  <a:srgbClr val="4B4A4A"/>
                </a:solidFill>
                <a:latin typeface="Geist" pitchFamily="34" charset="0"/>
                <a:ea typeface="Geist" pitchFamily="34" charset="-122"/>
                <a:cs typeface="Geist" pitchFamily="34" charset="-120"/>
              </a:rPr>
              <a:t> Spring Security with stateless JWT</a:t>
            </a:r>
            <a:endParaRPr lang="en-US" sz="1750" dirty="0"/>
          </a:p>
        </p:txBody>
      </p:sp>
      <p:sp>
        <p:nvSpPr>
          <p:cNvPr id="9" name="Text 6"/>
          <p:cNvSpPr/>
          <p:nvPr/>
        </p:nvSpPr>
        <p:spPr>
          <a:xfrm>
            <a:off x="793790" y="6215539"/>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Persistence:</a:t>
            </a:r>
            <a:r>
              <a:rPr lang="en-US" sz="1750" dirty="0">
                <a:solidFill>
                  <a:srgbClr val="4B4A4A"/>
                </a:solidFill>
                <a:latin typeface="Geist" pitchFamily="34" charset="0"/>
                <a:ea typeface="Geist" pitchFamily="34" charset="-122"/>
                <a:cs typeface="Geist" pitchFamily="34" charset="-120"/>
              </a:rPr>
              <a:t> Spring Data JPA / Hibernate</a:t>
            </a:r>
            <a:endParaRPr lang="en-US" sz="1750" dirty="0"/>
          </a:p>
        </p:txBody>
      </p:sp>
      <p:sp>
        <p:nvSpPr>
          <p:cNvPr id="10" name="Text 7"/>
          <p:cNvSpPr/>
          <p:nvPr/>
        </p:nvSpPr>
        <p:spPr>
          <a:xfrm>
            <a:off x="793790" y="7020639"/>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Build Tool:</a:t>
            </a:r>
            <a:r>
              <a:rPr lang="en-US" sz="1750" dirty="0">
                <a:solidFill>
                  <a:srgbClr val="4B4A4A"/>
                </a:solidFill>
                <a:latin typeface="Geist" pitchFamily="34" charset="0"/>
                <a:ea typeface="Geist" pitchFamily="34" charset="-122"/>
                <a:cs typeface="Geist" pitchFamily="34" charset="-120"/>
              </a:rPr>
              <a:t> Apache Maven 3.x</a:t>
            </a:r>
            <a:endParaRPr lang="en-US" sz="1750" dirty="0"/>
          </a:p>
        </p:txBody>
      </p:sp>
      <p:sp>
        <p:nvSpPr>
          <p:cNvPr id="11" name="Text 8"/>
          <p:cNvSpPr/>
          <p:nvPr/>
        </p:nvSpPr>
        <p:spPr>
          <a:xfrm>
            <a:off x="4856321" y="3732252"/>
            <a:ext cx="3501509" cy="566976"/>
          </a:xfrm>
          <a:prstGeom prst="rect">
            <a:avLst/>
          </a:prstGeom>
          <a:noFill/>
          <a:ln/>
        </p:spPr>
        <p:txBody>
          <a:bodyPr wrap="none" lIns="0" tIns="0" rIns="0" bIns="0" rtlCol="0" anchor="t"/>
          <a:lstStyle/>
          <a:p>
            <a:pPr marL="0" indent="0" algn="l">
              <a:lnSpc>
                <a:spcPts val="4450"/>
              </a:lnSpc>
              <a:buNone/>
            </a:pPr>
            <a:r>
              <a:rPr lang="en-US" sz="3550" b="1" dirty="0">
                <a:solidFill>
                  <a:srgbClr val="006747"/>
                </a:solidFill>
                <a:latin typeface="Noto Serif SC Bold" pitchFamily="34" charset="0"/>
                <a:ea typeface="Noto Serif SC Bold" pitchFamily="34" charset="-122"/>
                <a:cs typeface="Noto Serif SC Bold" pitchFamily="34" charset="-120"/>
              </a:rPr>
              <a:t>Frontend Stack</a:t>
            </a:r>
            <a:endParaRPr lang="en-US" sz="3550" dirty="0"/>
          </a:p>
        </p:txBody>
      </p:sp>
      <p:sp>
        <p:nvSpPr>
          <p:cNvPr id="12" name="Text 9"/>
          <p:cNvSpPr/>
          <p:nvPr/>
        </p:nvSpPr>
        <p:spPr>
          <a:xfrm>
            <a:off x="4856321" y="4526042"/>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Framework:</a:t>
            </a:r>
            <a:r>
              <a:rPr lang="en-US" sz="1750" dirty="0">
                <a:solidFill>
                  <a:srgbClr val="4B4A4A"/>
                </a:solidFill>
                <a:latin typeface="Geist" pitchFamily="34" charset="0"/>
                <a:ea typeface="Geist" pitchFamily="34" charset="-122"/>
                <a:cs typeface="Geist" pitchFamily="34" charset="-120"/>
              </a:rPr>
              <a:t> Angular 15</a:t>
            </a:r>
            <a:endParaRPr lang="en-US" sz="1750" dirty="0"/>
          </a:p>
        </p:txBody>
      </p:sp>
      <p:sp>
        <p:nvSpPr>
          <p:cNvPr id="13" name="Text 10"/>
          <p:cNvSpPr/>
          <p:nvPr/>
        </p:nvSpPr>
        <p:spPr>
          <a:xfrm>
            <a:off x="4856321" y="4968240"/>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Reactive Streams:</a:t>
            </a:r>
            <a:r>
              <a:rPr lang="en-US" sz="1750" dirty="0">
                <a:solidFill>
                  <a:srgbClr val="4B4A4A"/>
                </a:solidFill>
                <a:latin typeface="Geist" pitchFamily="34" charset="0"/>
                <a:ea typeface="Geist" pitchFamily="34" charset="-122"/>
                <a:cs typeface="Geist" pitchFamily="34" charset="-120"/>
              </a:rPr>
              <a:t> RxJS</a:t>
            </a:r>
            <a:endParaRPr lang="en-US" sz="1750" dirty="0"/>
          </a:p>
        </p:txBody>
      </p:sp>
      <p:sp>
        <p:nvSpPr>
          <p:cNvPr id="14" name="Text 11"/>
          <p:cNvSpPr/>
          <p:nvPr/>
        </p:nvSpPr>
        <p:spPr>
          <a:xfrm>
            <a:off x="4856321" y="54104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Styling:</a:t>
            </a:r>
            <a:r>
              <a:rPr lang="en-US" sz="1750" dirty="0">
                <a:solidFill>
                  <a:srgbClr val="4B4A4A"/>
                </a:solidFill>
                <a:latin typeface="Geist" pitchFamily="34" charset="0"/>
                <a:ea typeface="Geist" pitchFamily="34" charset="-122"/>
                <a:cs typeface="Geist" pitchFamily="34" charset="-120"/>
              </a:rPr>
              <a:t> Modern Design System, 12px Grid</a:t>
            </a:r>
            <a:endParaRPr lang="en-US" sz="1750" dirty="0"/>
          </a:p>
        </p:txBody>
      </p:sp>
      <p:sp>
        <p:nvSpPr>
          <p:cNvPr id="15" name="Text 12"/>
          <p:cNvSpPr/>
          <p:nvPr/>
        </p:nvSpPr>
        <p:spPr>
          <a:xfrm>
            <a:off x="4856321" y="6215539"/>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B4A4A"/>
                </a:solidFill>
                <a:latin typeface="Geist" pitchFamily="34" charset="0"/>
                <a:ea typeface="Geist" pitchFamily="34" charset="-122"/>
                <a:cs typeface="Geist" pitchFamily="34" charset="-120"/>
              </a:rPr>
              <a:t>Communication:</a:t>
            </a:r>
            <a:r>
              <a:rPr lang="en-US" sz="1750" dirty="0">
                <a:solidFill>
                  <a:srgbClr val="4B4A4A"/>
                </a:solidFill>
                <a:latin typeface="Geist" pitchFamily="34" charset="0"/>
                <a:ea typeface="Geist" pitchFamily="34" charset="-122"/>
                <a:cs typeface="Geist" pitchFamily="34" charset="-120"/>
              </a:rPr>
              <a:t> HTTP Client with Global Error Interceptors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47562"/>
            <a:ext cx="11325939"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Database Design &amp; Entity Relationships</a:t>
            </a:r>
            <a:endParaRPr lang="en-US" sz="4450" dirty="0"/>
          </a:p>
        </p:txBody>
      </p:sp>
      <p:sp>
        <p:nvSpPr>
          <p:cNvPr id="3" name="Text 1"/>
          <p:cNvSpPr/>
          <p:nvPr/>
        </p:nvSpPr>
        <p:spPr>
          <a:xfrm>
            <a:off x="793791" y="2514601"/>
            <a:ext cx="6352967" cy="5245767"/>
          </a:xfrm>
          <a:prstGeom prst="rect">
            <a:avLst/>
          </a:prstGeom>
          <a:noFill/>
          <a:ln/>
        </p:spPr>
        <p:txBody>
          <a:bodyPr wrap="square" lIns="0" tIns="0" rIns="0" bIns="0" rtlCol="0" anchor="t"/>
          <a:lstStyle/>
          <a:p>
            <a:pPr marL="0" indent="0" algn="l">
              <a:lnSpc>
                <a:spcPct val="150000"/>
              </a:lnSpc>
              <a:buNone/>
            </a:pPr>
            <a:r>
              <a:rPr lang="en-US" sz="2700" dirty="0">
                <a:solidFill>
                  <a:srgbClr val="4B4A4A"/>
                </a:solidFill>
                <a:latin typeface="Geist" pitchFamily="34" charset="0"/>
                <a:ea typeface="Geist" pitchFamily="34" charset="-122"/>
                <a:cs typeface="Geist" pitchFamily="34" charset="-120"/>
              </a:rPr>
              <a:t>The database schema is meticulously crafted to manage thousands of transactions across diverse operational domains. Clear entity relationships are established to ensure data integrity and facilitate efficient data retrieval for fleet, maintenance, and inventory management.</a:t>
            </a:r>
            <a:endParaRPr lang="en-US" sz="2700" dirty="0"/>
          </a:p>
        </p:txBody>
      </p:sp>
      <p:pic>
        <p:nvPicPr>
          <p:cNvPr id="4" name="Picture 3">
            <a:extLst>
              <a:ext uri="{FF2B5EF4-FFF2-40B4-BE49-F238E27FC236}">
                <a16:creationId xmlns:a16="http://schemas.microsoft.com/office/drawing/2014/main" id="{F13EEF93-0890-3C8D-E1A2-3AB92EB4E567}"/>
              </a:ext>
            </a:extLst>
          </p:cNvPr>
          <p:cNvPicPr>
            <a:picLocks noChangeAspect="1"/>
          </p:cNvPicPr>
          <p:nvPr/>
        </p:nvPicPr>
        <p:blipFill rotWithShape="1">
          <a:blip r:embed="rId3"/>
          <a:srcRect l="4167" t="11834" r="5000" b="9333"/>
          <a:stretch/>
        </p:blipFill>
        <p:spPr bwMode="auto">
          <a:xfrm>
            <a:off x="7375386" y="2117558"/>
            <a:ext cx="6461223" cy="5607812"/>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67439"/>
          </a:xfrm>
          <a:prstGeom prst="rect">
            <a:avLst/>
          </a:prstGeom>
        </p:spPr>
      </p:pic>
      <p:sp>
        <p:nvSpPr>
          <p:cNvPr id="3" name="Text 0"/>
          <p:cNvSpPr/>
          <p:nvPr/>
        </p:nvSpPr>
        <p:spPr>
          <a:xfrm>
            <a:off x="1610201" y="2752606"/>
            <a:ext cx="11409878" cy="1127522"/>
          </a:xfrm>
          <a:prstGeom prst="rect">
            <a:avLst/>
          </a:prstGeom>
          <a:noFill/>
          <a:ln/>
        </p:spPr>
        <p:txBody>
          <a:bodyPr wrap="square" lIns="0" tIns="0" rIns="0" bIns="0" rtlCol="0" anchor="t"/>
          <a:lstStyle/>
          <a:p>
            <a:pPr marL="0" indent="0" algn="l">
              <a:lnSpc>
                <a:spcPts val="4400"/>
              </a:lnSpc>
              <a:buNone/>
            </a:pPr>
            <a:r>
              <a:rPr lang="en-US" sz="3550" b="1" dirty="0">
                <a:solidFill>
                  <a:srgbClr val="006747"/>
                </a:solidFill>
                <a:latin typeface="Noto Serif SC Bold" pitchFamily="34" charset="0"/>
                <a:ea typeface="Noto Serif SC Bold" pitchFamily="34" charset="-122"/>
                <a:cs typeface="Noto Serif SC Bold" pitchFamily="34" charset="-120"/>
              </a:rPr>
              <a:t>Recent Enhancements: Industrial Premium Standards</a:t>
            </a:r>
            <a:endParaRPr lang="en-US" sz="3550" dirty="0"/>
          </a:p>
        </p:txBody>
      </p:sp>
      <p:sp>
        <p:nvSpPr>
          <p:cNvPr id="4" name="Text 1"/>
          <p:cNvSpPr/>
          <p:nvPr/>
        </p:nvSpPr>
        <p:spPr>
          <a:xfrm>
            <a:off x="1610201" y="4150638"/>
            <a:ext cx="11409878" cy="577215"/>
          </a:xfrm>
          <a:prstGeom prst="rect">
            <a:avLst/>
          </a:prstGeom>
          <a:noFill/>
          <a:ln/>
        </p:spPr>
        <p:txBody>
          <a:bodyPr wrap="square" lIns="0" tIns="0" rIns="0" bIns="0" rtlCol="0" anchor="t"/>
          <a:lstStyle/>
          <a:p>
            <a:pPr marL="0" indent="0" algn="l">
              <a:lnSpc>
                <a:spcPts val="2250"/>
              </a:lnSpc>
              <a:buNone/>
            </a:pPr>
            <a:r>
              <a:rPr lang="en-US" sz="1400" dirty="0">
                <a:solidFill>
                  <a:srgbClr val="4B4A4A"/>
                </a:solidFill>
                <a:latin typeface="Geist" pitchFamily="34" charset="0"/>
                <a:ea typeface="Geist" pitchFamily="34" charset="-122"/>
                <a:cs typeface="Geist" pitchFamily="34" charset="-120"/>
              </a:rPr>
              <a:t>Following a comprehensive technical audit, the system has undergone significant upgrades, elevating it to "Industrial Premium" standards with enhanced user experience and visual clarity.</a:t>
            </a:r>
            <a:endParaRPr lang="en-US" sz="1400" dirty="0"/>
          </a:p>
        </p:txBody>
      </p:sp>
      <p:sp>
        <p:nvSpPr>
          <p:cNvPr id="5" name="Shape 2"/>
          <p:cNvSpPr/>
          <p:nvPr/>
        </p:nvSpPr>
        <p:spPr>
          <a:xfrm>
            <a:off x="1610201" y="4930735"/>
            <a:ext cx="5614749" cy="2801064"/>
          </a:xfrm>
          <a:prstGeom prst="roundRect">
            <a:avLst>
              <a:gd name="adj" fmla="val 3917"/>
            </a:avLst>
          </a:prstGeom>
          <a:solidFill>
            <a:srgbClr val="E5F9F2">
              <a:alpha val="95000"/>
            </a:srgbClr>
          </a:solidFill>
          <a:ln w="22860">
            <a:solidFill>
              <a:srgbClr val="B7D5CA"/>
            </a:solidFill>
            <a:prstDash val="solid"/>
          </a:ln>
        </p:spPr>
        <p:txBody>
          <a:bodyPr/>
          <a:lstStyle/>
          <a:p>
            <a:endParaRPr lang="en-US"/>
          </a:p>
        </p:txBody>
      </p:sp>
      <p:sp>
        <p:nvSpPr>
          <p:cNvPr id="6" name="Shape 3"/>
          <p:cNvSpPr/>
          <p:nvPr/>
        </p:nvSpPr>
        <p:spPr>
          <a:xfrm>
            <a:off x="1587341" y="4930735"/>
            <a:ext cx="91440" cy="2801064"/>
          </a:xfrm>
          <a:prstGeom prst="roundRect">
            <a:avLst>
              <a:gd name="adj" fmla="val 177552"/>
            </a:avLst>
          </a:prstGeom>
          <a:solidFill>
            <a:srgbClr val="006747"/>
          </a:solidFill>
          <a:ln/>
        </p:spPr>
        <p:txBody>
          <a:bodyPr/>
          <a:lstStyle/>
          <a:p>
            <a:endParaRPr lang="en-US"/>
          </a:p>
        </p:txBody>
      </p:sp>
      <p:sp>
        <p:nvSpPr>
          <p:cNvPr id="7" name="Text 4"/>
          <p:cNvSpPr/>
          <p:nvPr/>
        </p:nvSpPr>
        <p:spPr>
          <a:xfrm>
            <a:off x="1882021" y="5133975"/>
            <a:ext cx="3672007" cy="338257"/>
          </a:xfrm>
          <a:prstGeom prst="rect">
            <a:avLst/>
          </a:prstGeom>
          <a:noFill/>
          <a:ln/>
        </p:spPr>
        <p:txBody>
          <a:bodyPr wrap="none" lIns="0" tIns="0" rIns="0" bIns="0" rtlCol="0" anchor="t"/>
          <a:lstStyle/>
          <a:p>
            <a:pPr marL="0" indent="0" algn="l">
              <a:lnSpc>
                <a:spcPts val="2650"/>
              </a:lnSpc>
              <a:buNone/>
            </a:pPr>
            <a:r>
              <a:rPr lang="en-US" sz="2100" b="1" dirty="0">
                <a:solidFill>
                  <a:srgbClr val="4B4A4A"/>
                </a:solidFill>
                <a:latin typeface="Noto Serif SC Bold" pitchFamily="34" charset="0"/>
                <a:ea typeface="Noto Serif SC Bold" pitchFamily="34" charset="-122"/>
                <a:cs typeface="Noto Serif SC Bold" pitchFamily="34" charset="-120"/>
              </a:rPr>
              <a:t>Global Error &amp; Loading UX</a:t>
            </a:r>
            <a:endParaRPr lang="en-US" sz="2100" dirty="0"/>
          </a:p>
        </p:txBody>
      </p:sp>
      <p:sp>
        <p:nvSpPr>
          <p:cNvPr id="8" name="Text 5"/>
          <p:cNvSpPr/>
          <p:nvPr/>
        </p:nvSpPr>
        <p:spPr>
          <a:xfrm>
            <a:off x="1882021" y="5580459"/>
            <a:ext cx="5139690" cy="577215"/>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Zero-Silent Failure:</a:t>
            </a:r>
            <a:r>
              <a:rPr lang="en-US" sz="1400" dirty="0">
                <a:solidFill>
                  <a:srgbClr val="4B4A4A"/>
                </a:solidFill>
                <a:latin typeface="Geist" pitchFamily="34" charset="0"/>
                <a:ea typeface="Geist" pitchFamily="34" charset="-122"/>
                <a:cs typeface="Geist" pitchFamily="34" charset="-120"/>
              </a:rPr>
              <a:t> A Global ErrorInterceptor ensures all API failures are reported to the user via Toast notifications.</a:t>
            </a:r>
            <a:endParaRPr lang="en-US" sz="1400" dirty="0"/>
          </a:p>
        </p:txBody>
      </p:sp>
      <p:sp>
        <p:nvSpPr>
          <p:cNvPr id="9" name="Text 6"/>
          <p:cNvSpPr/>
          <p:nvPr/>
        </p:nvSpPr>
        <p:spPr>
          <a:xfrm>
            <a:off x="1882021" y="6265902"/>
            <a:ext cx="5139690" cy="577215"/>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Universal Feedback:</a:t>
            </a:r>
            <a:r>
              <a:rPr lang="en-US" sz="1400" dirty="0">
                <a:solidFill>
                  <a:srgbClr val="4B4A4A"/>
                </a:solidFill>
                <a:latin typeface="Geist" pitchFamily="34" charset="0"/>
                <a:ea typeface="Geist" pitchFamily="34" charset="-122"/>
                <a:cs typeface="Geist" pitchFamily="34" charset="-120"/>
              </a:rPr>
              <a:t> A global loading service provides visual overlays during heavy operations and report generation.</a:t>
            </a:r>
            <a:endParaRPr lang="en-US" sz="1400" dirty="0"/>
          </a:p>
        </p:txBody>
      </p:sp>
      <p:sp>
        <p:nvSpPr>
          <p:cNvPr id="10" name="Shape 7"/>
          <p:cNvSpPr/>
          <p:nvPr/>
        </p:nvSpPr>
        <p:spPr>
          <a:xfrm>
            <a:off x="7405330" y="4930735"/>
            <a:ext cx="5614749" cy="2801064"/>
          </a:xfrm>
          <a:prstGeom prst="roundRect">
            <a:avLst>
              <a:gd name="adj" fmla="val 3917"/>
            </a:avLst>
          </a:prstGeom>
          <a:solidFill>
            <a:srgbClr val="E5F9F2">
              <a:alpha val="95000"/>
            </a:srgbClr>
          </a:solidFill>
          <a:ln w="22860">
            <a:solidFill>
              <a:srgbClr val="B7D5CA"/>
            </a:solidFill>
            <a:prstDash val="solid"/>
          </a:ln>
        </p:spPr>
        <p:txBody>
          <a:bodyPr/>
          <a:lstStyle/>
          <a:p>
            <a:endParaRPr lang="en-US"/>
          </a:p>
        </p:txBody>
      </p:sp>
      <p:sp>
        <p:nvSpPr>
          <p:cNvPr id="11" name="Shape 8"/>
          <p:cNvSpPr/>
          <p:nvPr/>
        </p:nvSpPr>
        <p:spPr>
          <a:xfrm>
            <a:off x="7382470" y="4930735"/>
            <a:ext cx="91440" cy="2801064"/>
          </a:xfrm>
          <a:prstGeom prst="roundRect">
            <a:avLst>
              <a:gd name="adj" fmla="val 177552"/>
            </a:avLst>
          </a:prstGeom>
          <a:solidFill>
            <a:srgbClr val="006747"/>
          </a:solidFill>
          <a:ln/>
        </p:spPr>
        <p:txBody>
          <a:bodyPr/>
          <a:lstStyle/>
          <a:p>
            <a:endParaRPr lang="en-US"/>
          </a:p>
        </p:txBody>
      </p:sp>
      <p:sp>
        <p:nvSpPr>
          <p:cNvPr id="12" name="Text 9"/>
          <p:cNvSpPr/>
          <p:nvPr/>
        </p:nvSpPr>
        <p:spPr>
          <a:xfrm>
            <a:off x="7677150" y="5133975"/>
            <a:ext cx="3722013" cy="338257"/>
          </a:xfrm>
          <a:prstGeom prst="rect">
            <a:avLst/>
          </a:prstGeom>
          <a:noFill/>
          <a:ln/>
        </p:spPr>
        <p:txBody>
          <a:bodyPr wrap="none" lIns="0" tIns="0" rIns="0" bIns="0" rtlCol="0" anchor="t"/>
          <a:lstStyle/>
          <a:p>
            <a:pPr marL="0" indent="0" algn="l">
              <a:lnSpc>
                <a:spcPts val="2650"/>
              </a:lnSpc>
              <a:buNone/>
            </a:pPr>
            <a:r>
              <a:rPr lang="en-US" sz="2100" b="1" dirty="0">
                <a:solidFill>
                  <a:srgbClr val="4B4A4A"/>
                </a:solidFill>
                <a:latin typeface="Noto Serif SC Bold" pitchFamily="34" charset="0"/>
                <a:ea typeface="Noto Serif SC Bold" pitchFamily="34" charset="-122"/>
                <a:cs typeface="Noto Serif SC Bold" pitchFamily="34" charset="-120"/>
              </a:rPr>
              <a:t>High-Scannability UI Audit</a:t>
            </a:r>
            <a:endParaRPr lang="en-US" sz="2100" dirty="0"/>
          </a:p>
        </p:txBody>
      </p:sp>
      <p:sp>
        <p:nvSpPr>
          <p:cNvPr id="13" name="Text 10"/>
          <p:cNvSpPr/>
          <p:nvPr/>
        </p:nvSpPr>
        <p:spPr>
          <a:xfrm>
            <a:off x="7677150" y="5580459"/>
            <a:ext cx="5139690" cy="577215"/>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Stat Box Layout:</a:t>
            </a:r>
            <a:r>
              <a:rPr lang="en-US" sz="1400" dirty="0">
                <a:solidFill>
                  <a:srgbClr val="4B4A4A"/>
                </a:solidFill>
                <a:latin typeface="Geist" pitchFamily="34" charset="0"/>
                <a:ea typeface="Geist" pitchFamily="34" charset="-122"/>
                <a:cs typeface="Geist" pitchFamily="34" charset="-120"/>
              </a:rPr>
              <a:t> Cluttered text lists replaced with modern "Stat Box" components for Fleet and Analytics.</a:t>
            </a:r>
            <a:endParaRPr lang="en-US" sz="1400" dirty="0"/>
          </a:p>
        </p:txBody>
      </p:sp>
      <p:sp>
        <p:nvSpPr>
          <p:cNvPr id="14" name="Text 11"/>
          <p:cNvSpPr/>
          <p:nvPr/>
        </p:nvSpPr>
        <p:spPr>
          <a:xfrm>
            <a:off x="7677150" y="6265902"/>
            <a:ext cx="5139690" cy="577215"/>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12px Grid Standard:</a:t>
            </a:r>
            <a:r>
              <a:rPr lang="en-US" sz="1400" dirty="0">
                <a:solidFill>
                  <a:srgbClr val="4B4A4A"/>
                </a:solidFill>
                <a:latin typeface="Geist" pitchFamily="34" charset="0"/>
                <a:ea typeface="Geist" pitchFamily="34" charset="-122"/>
                <a:cs typeface="Geist" pitchFamily="34" charset="-120"/>
              </a:rPr>
              <a:t> Implemented consistent 12px padding in all data tables for reduced visual density.</a:t>
            </a:r>
            <a:endParaRPr lang="en-US" sz="1400" dirty="0"/>
          </a:p>
        </p:txBody>
      </p:sp>
      <p:sp>
        <p:nvSpPr>
          <p:cNvPr id="15" name="Text 12"/>
          <p:cNvSpPr/>
          <p:nvPr/>
        </p:nvSpPr>
        <p:spPr>
          <a:xfrm>
            <a:off x="7677150" y="6951345"/>
            <a:ext cx="5139690" cy="577215"/>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Dark Theme Overhaul:</a:t>
            </a:r>
            <a:r>
              <a:rPr lang="en-US" sz="1400" dirty="0">
                <a:solidFill>
                  <a:srgbClr val="4B4A4A"/>
                </a:solidFill>
                <a:latin typeface="Geist" pitchFamily="34" charset="0"/>
                <a:ea typeface="Geist" pitchFamily="34" charset="-122"/>
                <a:cs typeface="Geist" pitchFamily="34" charset="-120"/>
              </a:rPr>
              <a:t> Unified aesthetic across all pages, including Maintenance and Task modules.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83181" y="692467"/>
            <a:ext cx="7777639" cy="1219914"/>
          </a:xfrm>
          <a:prstGeom prst="rect">
            <a:avLst/>
          </a:prstGeom>
          <a:noFill/>
          <a:ln/>
        </p:spPr>
        <p:txBody>
          <a:bodyPr wrap="square" lIns="0" tIns="0" rIns="0" bIns="0" rtlCol="0" anchor="t"/>
          <a:lstStyle/>
          <a:p>
            <a:pPr marL="0" indent="0" algn="l">
              <a:lnSpc>
                <a:spcPts val="4800"/>
              </a:lnSpc>
              <a:buNone/>
            </a:pPr>
            <a:r>
              <a:rPr lang="en-US" sz="3800" b="1" dirty="0">
                <a:solidFill>
                  <a:srgbClr val="006747"/>
                </a:solidFill>
                <a:latin typeface="Noto Serif SC Bold" pitchFamily="34" charset="0"/>
                <a:ea typeface="Noto Serif SC Bold" pitchFamily="34" charset="-122"/>
                <a:cs typeface="Noto Serif SC Bold" pitchFamily="34" charset="-120"/>
              </a:rPr>
              <a:t>Core Feature Analysis: Fleet &amp; Maintenance</a:t>
            </a:r>
            <a:endParaRPr lang="en-US" sz="3800" dirty="0"/>
          </a:p>
        </p:txBody>
      </p:sp>
      <p:sp>
        <p:nvSpPr>
          <p:cNvPr id="4" name="Text 1"/>
          <p:cNvSpPr/>
          <p:nvPr/>
        </p:nvSpPr>
        <p:spPr>
          <a:xfrm>
            <a:off x="683181" y="2205157"/>
            <a:ext cx="7777639" cy="624364"/>
          </a:xfrm>
          <a:prstGeom prst="rect">
            <a:avLst/>
          </a:prstGeom>
          <a:noFill/>
          <a:ln/>
        </p:spPr>
        <p:txBody>
          <a:bodyPr wrap="square" lIns="0" tIns="0" rIns="0" bIns="0" rtlCol="0" anchor="t"/>
          <a:lstStyle/>
          <a:p>
            <a:pPr marL="0" indent="0" algn="l">
              <a:lnSpc>
                <a:spcPts val="2450"/>
              </a:lnSpc>
              <a:buNone/>
            </a:pPr>
            <a:r>
              <a:rPr lang="en-US" sz="1500" dirty="0">
                <a:solidFill>
                  <a:srgbClr val="4B4A4A"/>
                </a:solidFill>
                <a:latin typeface="Geist" pitchFamily="34" charset="0"/>
                <a:ea typeface="Geist" pitchFamily="34" charset="-122"/>
                <a:cs typeface="Geist" pitchFamily="34" charset="-120"/>
              </a:rPr>
              <a:t>The system offers comprehensive fleet management capabilities and ensures rigorous maintenance and safety accountability.</a:t>
            </a:r>
            <a:endParaRPr lang="en-US" sz="1500" dirty="0"/>
          </a:p>
        </p:txBody>
      </p:sp>
      <p:sp>
        <p:nvSpPr>
          <p:cNvPr id="5" name="Text 2"/>
          <p:cNvSpPr/>
          <p:nvPr/>
        </p:nvSpPr>
        <p:spPr>
          <a:xfrm>
            <a:off x="683181" y="3244215"/>
            <a:ext cx="3650694" cy="975836"/>
          </a:xfrm>
          <a:prstGeom prst="rect">
            <a:avLst/>
          </a:prstGeom>
          <a:noFill/>
          <a:ln/>
        </p:spPr>
        <p:txBody>
          <a:bodyPr wrap="square" lIns="0" tIns="0" rIns="0" bIns="0" rtlCol="0" anchor="t"/>
          <a:lstStyle/>
          <a:p>
            <a:pPr marL="0" indent="0" algn="l">
              <a:lnSpc>
                <a:spcPts val="3800"/>
              </a:lnSpc>
              <a:buNone/>
            </a:pPr>
            <a:r>
              <a:rPr lang="en-US" sz="3050" b="1" dirty="0">
                <a:solidFill>
                  <a:srgbClr val="006747"/>
                </a:solidFill>
                <a:latin typeface="Noto Serif SC Bold" pitchFamily="34" charset="0"/>
                <a:ea typeface="Noto Serif SC Bold" pitchFamily="34" charset="-122"/>
                <a:cs typeface="Noto Serif SC Bold" pitchFamily="34" charset="-120"/>
              </a:rPr>
              <a:t>Fleet Management</a:t>
            </a:r>
            <a:endParaRPr lang="en-US" sz="3050" dirty="0"/>
          </a:p>
        </p:txBody>
      </p:sp>
      <p:sp>
        <p:nvSpPr>
          <p:cNvPr id="6" name="Text 3"/>
          <p:cNvSpPr/>
          <p:nvPr/>
        </p:nvSpPr>
        <p:spPr>
          <a:xfrm>
            <a:off x="683181" y="4415195"/>
            <a:ext cx="3650694" cy="624364"/>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4B4A4A"/>
                </a:solidFill>
                <a:latin typeface="Geist" pitchFamily="34" charset="0"/>
                <a:ea typeface="Geist" pitchFamily="34" charset="-122"/>
                <a:cs typeface="Geist" pitchFamily="34" charset="-120"/>
              </a:rPr>
              <a:t>Real-time oversight of the entire go-kart fleet.</a:t>
            </a:r>
            <a:endParaRPr lang="en-US" sz="1500" dirty="0"/>
          </a:p>
        </p:txBody>
      </p:sp>
      <p:sp>
        <p:nvSpPr>
          <p:cNvPr id="7" name="Text 4"/>
          <p:cNvSpPr/>
          <p:nvPr/>
        </p:nvSpPr>
        <p:spPr>
          <a:xfrm>
            <a:off x="683181" y="5107781"/>
            <a:ext cx="3650694" cy="624364"/>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4B4A4A"/>
                </a:solidFill>
                <a:latin typeface="Geist" pitchFamily="34" charset="0"/>
                <a:ea typeface="Geist" pitchFamily="34" charset="-122"/>
                <a:cs typeface="Geist" pitchFamily="34" charset="-120"/>
              </a:rPr>
              <a:t>Karts tracked by status: Available, Maintenance, Crashed, Retired.</a:t>
            </a:r>
            <a:endParaRPr lang="en-US" sz="1500" dirty="0"/>
          </a:p>
        </p:txBody>
      </p:sp>
      <p:sp>
        <p:nvSpPr>
          <p:cNvPr id="8" name="Text 5"/>
          <p:cNvSpPr/>
          <p:nvPr/>
        </p:nvSpPr>
        <p:spPr>
          <a:xfrm>
            <a:off x="683181" y="5800368"/>
            <a:ext cx="3650694" cy="624364"/>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4B4A4A"/>
                </a:solidFill>
                <a:latin typeface="Geist" pitchFamily="34" charset="0"/>
                <a:ea typeface="Geist" pitchFamily="34" charset="-122"/>
                <a:cs typeface="Geist" pitchFamily="34" charset="-120"/>
              </a:rPr>
              <a:t>Individual engine hours recorded for proactive servicing.</a:t>
            </a:r>
            <a:endParaRPr lang="en-US" sz="1500" dirty="0"/>
          </a:p>
        </p:txBody>
      </p:sp>
      <p:sp>
        <p:nvSpPr>
          <p:cNvPr id="9" name="Text 6"/>
          <p:cNvSpPr/>
          <p:nvPr/>
        </p:nvSpPr>
        <p:spPr>
          <a:xfrm>
            <a:off x="4817745" y="3244215"/>
            <a:ext cx="3650694" cy="1463754"/>
          </a:xfrm>
          <a:prstGeom prst="rect">
            <a:avLst/>
          </a:prstGeom>
          <a:noFill/>
          <a:ln/>
        </p:spPr>
        <p:txBody>
          <a:bodyPr wrap="square" lIns="0" tIns="0" rIns="0" bIns="0" rtlCol="0" anchor="t"/>
          <a:lstStyle/>
          <a:p>
            <a:pPr marL="0" indent="0" algn="l">
              <a:lnSpc>
                <a:spcPts val="3800"/>
              </a:lnSpc>
              <a:buNone/>
            </a:pPr>
            <a:r>
              <a:rPr lang="en-US" sz="3050" b="1" dirty="0">
                <a:solidFill>
                  <a:srgbClr val="006747"/>
                </a:solidFill>
                <a:latin typeface="Noto Serif SC Bold" pitchFamily="34" charset="0"/>
                <a:ea typeface="Noto Serif SC Bold" pitchFamily="34" charset="-122"/>
                <a:cs typeface="Noto Serif SC Bold" pitchFamily="34" charset="-120"/>
              </a:rPr>
              <a:t>Maintenance &amp; Safety Accountability</a:t>
            </a:r>
            <a:endParaRPr lang="en-US" sz="3050" dirty="0"/>
          </a:p>
        </p:txBody>
      </p:sp>
      <p:sp>
        <p:nvSpPr>
          <p:cNvPr id="10" name="Text 7"/>
          <p:cNvSpPr/>
          <p:nvPr/>
        </p:nvSpPr>
        <p:spPr>
          <a:xfrm>
            <a:off x="4817745" y="4903113"/>
            <a:ext cx="3650694" cy="1248728"/>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B4A4A"/>
                </a:solidFill>
                <a:latin typeface="Geist" pitchFamily="34" charset="0"/>
                <a:ea typeface="Geist" pitchFamily="34" charset="-122"/>
                <a:cs typeface="Geist" pitchFamily="34" charset="-120"/>
              </a:rPr>
              <a:t>Manager Verification Loop:</a:t>
            </a:r>
            <a:r>
              <a:rPr lang="en-US" sz="1500" dirty="0">
                <a:solidFill>
                  <a:srgbClr val="4B4A4A"/>
                </a:solidFill>
                <a:latin typeface="Geist" pitchFamily="34" charset="0"/>
                <a:ea typeface="Geist" pitchFamily="34" charset="-122"/>
                <a:cs typeface="Geist" pitchFamily="34" charset="-120"/>
              </a:rPr>
              <a:t> Maintenance logs require digital verification by a Manager before karts return to service.</a:t>
            </a:r>
            <a:endParaRPr lang="en-US" sz="1500" dirty="0"/>
          </a:p>
        </p:txBody>
      </p:sp>
      <p:sp>
        <p:nvSpPr>
          <p:cNvPr id="11" name="Text 8"/>
          <p:cNvSpPr/>
          <p:nvPr/>
        </p:nvSpPr>
        <p:spPr>
          <a:xfrm>
            <a:off x="4817745" y="6220063"/>
            <a:ext cx="3650694" cy="1248728"/>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4B4A4A"/>
                </a:solidFill>
                <a:latin typeface="Geist" pitchFamily="34" charset="0"/>
                <a:ea typeface="Geist" pitchFamily="34" charset="-122"/>
                <a:cs typeface="Geist" pitchFamily="34" charset="-120"/>
              </a:rPr>
              <a:t>Audit Logs:</a:t>
            </a:r>
            <a:r>
              <a:rPr lang="en-US" sz="1500" dirty="0">
                <a:solidFill>
                  <a:srgbClr val="4B4A4A"/>
                </a:solidFill>
                <a:latin typeface="Geist" pitchFamily="34" charset="0"/>
                <a:ea typeface="Geist" pitchFamily="34" charset="-122"/>
                <a:cs typeface="Geist" pitchFamily="34" charset="-120"/>
              </a:rPr>
              <a:t> Every status change and system action logged with timestamp and user ID for forensic review.</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68009"/>
          </a:xfrm>
          <a:prstGeom prst="rect">
            <a:avLst/>
          </a:prstGeom>
        </p:spPr>
      </p:pic>
      <p:sp>
        <p:nvSpPr>
          <p:cNvPr id="3" name="Text 0"/>
          <p:cNvSpPr/>
          <p:nvPr/>
        </p:nvSpPr>
        <p:spPr>
          <a:xfrm>
            <a:off x="2091095" y="2931081"/>
            <a:ext cx="9708356" cy="516255"/>
          </a:xfrm>
          <a:prstGeom prst="rect">
            <a:avLst/>
          </a:prstGeom>
          <a:noFill/>
          <a:ln/>
        </p:spPr>
        <p:txBody>
          <a:bodyPr wrap="none" lIns="0" tIns="0" rIns="0" bIns="0" rtlCol="0" anchor="t"/>
          <a:lstStyle/>
          <a:p>
            <a:pPr marL="0" indent="0" algn="l">
              <a:lnSpc>
                <a:spcPts val="4050"/>
              </a:lnSpc>
              <a:buNone/>
            </a:pPr>
            <a:r>
              <a:rPr lang="en-US" sz="3250" b="1" dirty="0">
                <a:solidFill>
                  <a:srgbClr val="006747"/>
                </a:solidFill>
                <a:latin typeface="Noto Serif SC Bold" pitchFamily="34" charset="0"/>
                <a:ea typeface="Noto Serif SC Bold" pitchFamily="34" charset="-122"/>
                <a:cs typeface="Noto Serif SC Bold" pitchFamily="34" charset="-120"/>
              </a:rPr>
              <a:t>Smart Inventory &amp; Advanced Task Assignment</a:t>
            </a:r>
            <a:endParaRPr lang="en-US" sz="3250" dirty="0"/>
          </a:p>
        </p:txBody>
      </p:sp>
      <p:sp>
        <p:nvSpPr>
          <p:cNvPr id="4" name="Shape 1"/>
          <p:cNvSpPr/>
          <p:nvPr/>
        </p:nvSpPr>
        <p:spPr>
          <a:xfrm>
            <a:off x="2091095" y="3942874"/>
            <a:ext cx="5141476" cy="3420428"/>
          </a:xfrm>
          <a:prstGeom prst="roundRect">
            <a:avLst>
              <a:gd name="adj" fmla="val 3208"/>
            </a:avLst>
          </a:prstGeom>
          <a:solidFill>
            <a:srgbClr val="E5F9F2">
              <a:alpha val="95000"/>
            </a:srgbClr>
          </a:solidFill>
          <a:ln/>
        </p:spPr>
        <p:txBody>
          <a:bodyPr/>
          <a:lstStyle/>
          <a:p>
            <a:endParaRPr lang="en-US"/>
          </a:p>
        </p:txBody>
      </p:sp>
      <p:sp>
        <p:nvSpPr>
          <p:cNvPr id="5" name="Shape 2"/>
          <p:cNvSpPr/>
          <p:nvPr/>
        </p:nvSpPr>
        <p:spPr>
          <a:xfrm>
            <a:off x="2091095" y="3920014"/>
            <a:ext cx="5141476" cy="91440"/>
          </a:xfrm>
          <a:prstGeom prst="roundRect">
            <a:avLst>
              <a:gd name="adj" fmla="val 162587"/>
            </a:avLst>
          </a:prstGeom>
          <a:solidFill>
            <a:srgbClr val="006747"/>
          </a:solidFill>
          <a:ln/>
        </p:spPr>
        <p:txBody>
          <a:bodyPr/>
          <a:lstStyle/>
          <a:p>
            <a:endParaRPr lang="en-US"/>
          </a:p>
        </p:txBody>
      </p:sp>
      <p:sp>
        <p:nvSpPr>
          <p:cNvPr id="6" name="Shape 3"/>
          <p:cNvSpPr/>
          <p:nvPr/>
        </p:nvSpPr>
        <p:spPr>
          <a:xfrm>
            <a:off x="4414004" y="3695105"/>
            <a:ext cx="495538" cy="495538"/>
          </a:xfrm>
          <a:prstGeom prst="roundRect">
            <a:avLst>
              <a:gd name="adj" fmla="val 184527"/>
            </a:avLst>
          </a:prstGeom>
          <a:solidFill>
            <a:srgbClr val="006747"/>
          </a:solidFill>
          <a:ln/>
        </p:spPr>
        <p:txBody>
          <a:bodyPr/>
          <a:lstStyle/>
          <a:p>
            <a:endParaRPr lang="en-US"/>
          </a:p>
        </p:txBody>
      </p:sp>
      <p:sp>
        <p:nvSpPr>
          <p:cNvPr id="7" name="Text 4"/>
          <p:cNvSpPr/>
          <p:nvPr/>
        </p:nvSpPr>
        <p:spPr>
          <a:xfrm>
            <a:off x="4562713" y="3818930"/>
            <a:ext cx="198120" cy="247769"/>
          </a:xfrm>
          <a:prstGeom prst="rect">
            <a:avLst/>
          </a:prstGeom>
          <a:noFill/>
          <a:ln/>
        </p:spPr>
        <p:txBody>
          <a:bodyPr wrap="none" lIns="0" tIns="0" rIns="0" bIns="0" rtlCol="0" anchor="t"/>
          <a:lstStyle/>
          <a:p>
            <a:pPr marL="0" indent="0" algn="l">
              <a:lnSpc>
                <a:spcPts val="2450"/>
              </a:lnSpc>
              <a:buNone/>
            </a:pPr>
            <a:r>
              <a:rPr lang="en-US" sz="1550" b="1" dirty="0">
                <a:solidFill>
                  <a:srgbClr val="FFFFFF"/>
                </a:solidFill>
                <a:latin typeface="Noto Serif SC Bold" pitchFamily="34" charset="0"/>
                <a:ea typeface="Noto Serif SC Bold" pitchFamily="34" charset="-122"/>
                <a:cs typeface="Noto Serif SC Bold" pitchFamily="34" charset="-120"/>
              </a:rPr>
              <a:t>1</a:t>
            </a:r>
            <a:endParaRPr lang="en-US" sz="1550" dirty="0"/>
          </a:p>
        </p:txBody>
      </p:sp>
      <p:sp>
        <p:nvSpPr>
          <p:cNvPr id="8" name="Text 5"/>
          <p:cNvSpPr/>
          <p:nvPr/>
        </p:nvSpPr>
        <p:spPr>
          <a:xfrm>
            <a:off x="2279094" y="4355783"/>
            <a:ext cx="2477810" cy="309682"/>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Smart Inventory</a:t>
            </a:r>
            <a:endParaRPr lang="en-US" sz="1950" dirty="0"/>
          </a:p>
        </p:txBody>
      </p:sp>
      <p:sp>
        <p:nvSpPr>
          <p:cNvPr id="9" name="Text 6"/>
          <p:cNvSpPr/>
          <p:nvPr/>
        </p:nvSpPr>
        <p:spPr>
          <a:xfrm>
            <a:off x="2279094" y="4764524"/>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Real-time Deduction:</a:t>
            </a:r>
            <a:r>
              <a:rPr lang="en-US" sz="1300" dirty="0">
                <a:solidFill>
                  <a:srgbClr val="4B4A4A"/>
                </a:solidFill>
                <a:latin typeface="Geist" pitchFamily="34" charset="0"/>
                <a:ea typeface="Geist" pitchFamily="34" charset="-122"/>
                <a:cs typeface="Geist" pitchFamily="34" charset="-120"/>
              </a:rPr>
              <a:t> Part quantities automatically deducted from stock upon use in maintenance.</a:t>
            </a:r>
            <a:endParaRPr lang="en-US" sz="1300" dirty="0"/>
          </a:p>
        </p:txBody>
      </p:sp>
      <p:sp>
        <p:nvSpPr>
          <p:cNvPr id="10" name="Text 7"/>
          <p:cNvSpPr/>
          <p:nvPr/>
        </p:nvSpPr>
        <p:spPr>
          <a:xfrm>
            <a:off x="2279094" y="5391983"/>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Threshold Alerts:</a:t>
            </a:r>
            <a:r>
              <a:rPr lang="en-US" sz="1300" dirty="0">
                <a:solidFill>
                  <a:srgbClr val="4B4A4A"/>
                </a:solidFill>
                <a:latin typeface="Geist" pitchFamily="34" charset="0"/>
                <a:ea typeface="Geist" pitchFamily="34" charset="-122"/>
                <a:cs typeface="Geist" pitchFamily="34" charset="-120"/>
              </a:rPr>
              <a:t> High-contrast visual warnings trigger when stock falls below critical levels.</a:t>
            </a:r>
            <a:endParaRPr lang="en-US" sz="1300" dirty="0"/>
          </a:p>
        </p:txBody>
      </p:sp>
      <p:sp>
        <p:nvSpPr>
          <p:cNvPr id="11" name="Shape 8"/>
          <p:cNvSpPr/>
          <p:nvPr/>
        </p:nvSpPr>
        <p:spPr>
          <a:xfrm>
            <a:off x="7397710" y="3942874"/>
            <a:ext cx="5141476" cy="3420428"/>
          </a:xfrm>
          <a:prstGeom prst="roundRect">
            <a:avLst>
              <a:gd name="adj" fmla="val 3208"/>
            </a:avLst>
          </a:prstGeom>
          <a:solidFill>
            <a:srgbClr val="E5F9F2">
              <a:alpha val="95000"/>
            </a:srgbClr>
          </a:solidFill>
          <a:ln/>
        </p:spPr>
        <p:txBody>
          <a:bodyPr/>
          <a:lstStyle/>
          <a:p>
            <a:endParaRPr lang="en-US"/>
          </a:p>
        </p:txBody>
      </p:sp>
      <p:sp>
        <p:nvSpPr>
          <p:cNvPr id="12" name="Shape 9"/>
          <p:cNvSpPr/>
          <p:nvPr/>
        </p:nvSpPr>
        <p:spPr>
          <a:xfrm>
            <a:off x="7397710" y="3920014"/>
            <a:ext cx="5141476" cy="91440"/>
          </a:xfrm>
          <a:prstGeom prst="roundRect">
            <a:avLst>
              <a:gd name="adj" fmla="val 162587"/>
            </a:avLst>
          </a:prstGeom>
          <a:solidFill>
            <a:srgbClr val="006747"/>
          </a:solidFill>
          <a:ln/>
        </p:spPr>
        <p:txBody>
          <a:bodyPr/>
          <a:lstStyle/>
          <a:p>
            <a:endParaRPr lang="en-US"/>
          </a:p>
        </p:txBody>
      </p:sp>
      <p:sp>
        <p:nvSpPr>
          <p:cNvPr id="13" name="Shape 10"/>
          <p:cNvSpPr/>
          <p:nvPr/>
        </p:nvSpPr>
        <p:spPr>
          <a:xfrm>
            <a:off x="9720620" y="3695105"/>
            <a:ext cx="495538" cy="495538"/>
          </a:xfrm>
          <a:prstGeom prst="roundRect">
            <a:avLst>
              <a:gd name="adj" fmla="val 184527"/>
            </a:avLst>
          </a:prstGeom>
          <a:solidFill>
            <a:srgbClr val="006747"/>
          </a:solidFill>
          <a:ln/>
        </p:spPr>
        <p:txBody>
          <a:bodyPr/>
          <a:lstStyle/>
          <a:p>
            <a:endParaRPr lang="en-US"/>
          </a:p>
        </p:txBody>
      </p:sp>
      <p:sp>
        <p:nvSpPr>
          <p:cNvPr id="14" name="Text 11"/>
          <p:cNvSpPr/>
          <p:nvPr/>
        </p:nvSpPr>
        <p:spPr>
          <a:xfrm>
            <a:off x="9869329" y="3818930"/>
            <a:ext cx="198120" cy="247769"/>
          </a:xfrm>
          <a:prstGeom prst="rect">
            <a:avLst/>
          </a:prstGeom>
          <a:noFill/>
          <a:ln/>
        </p:spPr>
        <p:txBody>
          <a:bodyPr wrap="none" lIns="0" tIns="0" rIns="0" bIns="0" rtlCol="0" anchor="t"/>
          <a:lstStyle/>
          <a:p>
            <a:pPr marL="0" indent="0" algn="l">
              <a:lnSpc>
                <a:spcPts val="2450"/>
              </a:lnSpc>
              <a:buNone/>
            </a:pPr>
            <a:r>
              <a:rPr lang="en-US" sz="1550" b="1" dirty="0">
                <a:solidFill>
                  <a:srgbClr val="FFFFFF"/>
                </a:solidFill>
                <a:latin typeface="Noto Serif SC Bold" pitchFamily="34" charset="0"/>
                <a:ea typeface="Noto Serif SC Bold" pitchFamily="34" charset="-122"/>
                <a:cs typeface="Noto Serif SC Bold" pitchFamily="34" charset="-120"/>
              </a:rPr>
              <a:t>2</a:t>
            </a:r>
            <a:endParaRPr lang="en-US" sz="1550" dirty="0"/>
          </a:p>
        </p:txBody>
      </p:sp>
      <p:sp>
        <p:nvSpPr>
          <p:cNvPr id="15" name="Text 12"/>
          <p:cNvSpPr/>
          <p:nvPr/>
        </p:nvSpPr>
        <p:spPr>
          <a:xfrm>
            <a:off x="7585710" y="4355783"/>
            <a:ext cx="4391620" cy="309682"/>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Advanced Task Assignment System</a:t>
            </a:r>
            <a:endParaRPr lang="en-US" sz="1950" dirty="0"/>
          </a:p>
        </p:txBody>
      </p:sp>
      <p:sp>
        <p:nvSpPr>
          <p:cNvPr id="16" name="Text 13"/>
          <p:cNvSpPr/>
          <p:nvPr/>
        </p:nvSpPr>
        <p:spPr>
          <a:xfrm>
            <a:off x="7585710" y="4764524"/>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Role-Based Hierarchy:</a:t>
            </a:r>
            <a:r>
              <a:rPr lang="en-US" sz="1300" dirty="0">
                <a:solidFill>
                  <a:srgbClr val="4B4A4A"/>
                </a:solidFill>
                <a:latin typeface="Geist" pitchFamily="34" charset="0"/>
                <a:ea typeface="Geist" pitchFamily="34" charset="-122"/>
                <a:cs typeface="Geist" pitchFamily="34" charset="-120"/>
              </a:rPr>
              <a:t> Admins assign tasks to all users; Managers to Staff.</a:t>
            </a:r>
            <a:endParaRPr lang="en-US" sz="1300" dirty="0"/>
          </a:p>
        </p:txBody>
      </p:sp>
      <p:sp>
        <p:nvSpPr>
          <p:cNvPr id="17" name="Text 14"/>
          <p:cNvSpPr/>
          <p:nvPr/>
        </p:nvSpPr>
        <p:spPr>
          <a:xfrm>
            <a:off x="7585710" y="5391983"/>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Assigned Fulfillment:</a:t>
            </a:r>
            <a:r>
              <a:rPr lang="en-US" sz="1300" dirty="0">
                <a:solidFill>
                  <a:srgbClr val="4B4A4A"/>
                </a:solidFill>
                <a:latin typeface="Geist" pitchFamily="34" charset="0"/>
                <a:ea typeface="Geist" pitchFamily="34" charset="-122"/>
                <a:cs typeface="Geist" pitchFamily="34" charset="-120"/>
              </a:rPr>
              <a:t> Only the Assignee can mark a task "DONE," enforcing direct responsibility.</a:t>
            </a:r>
            <a:endParaRPr lang="en-US" sz="1300" dirty="0"/>
          </a:p>
        </p:txBody>
      </p:sp>
      <p:sp>
        <p:nvSpPr>
          <p:cNvPr id="18" name="Text 15"/>
          <p:cNvSpPr/>
          <p:nvPr/>
        </p:nvSpPr>
        <p:spPr>
          <a:xfrm>
            <a:off x="7585710" y="6019443"/>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Private Workstreams:</a:t>
            </a:r>
            <a:r>
              <a:rPr lang="en-US" sz="1300" dirty="0">
                <a:solidFill>
                  <a:srgbClr val="4B4A4A"/>
                </a:solidFill>
                <a:latin typeface="Geist" pitchFamily="34" charset="0"/>
                <a:ea typeface="Geist" pitchFamily="34" charset="-122"/>
                <a:cs typeface="Geist" pitchFamily="34" charset="-120"/>
              </a:rPr>
              <a:t> Users see only assigned or created tasks, reducing operational noise.</a:t>
            </a:r>
            <a:endParaRPr lang="en-US" sz="1300" dirty="0"/>
          </a:p>
        </p:txBody>
      </p:sp>
      <p:sp>
        <p:nvSpPr>
          <p:cNvPr id="19" name="Text 16"/>
          <p:cNvSpPr/>
          <p:nvPr/>
        </p:nvSpPr>
        <p:spPr>
          <a:xfrm>
            <a:off x="7585710" y="6646902"/>
            <a:ext cx="4765477" cy="528399"/>
          </a:xfrm>
          <a:prstGeom prst="rect">
            <a:avLst/>
          </a:prstGeom>
          <a:noFill/>
          <a:ln/>
        </p:spPr>
        <p:txBody>
          <a:bodyPr wrap="square" lIns="0" tIns="0" rIns="0" bIns="0" rtlCol="0" anchor="t"/>
          <a:lstStyle/>
          <a:p>
            <a:pPr marL="0" indent="0" algn="l">
              <a:lnSpc>
                <a:spcPts val="2050"/>
              </a:lnSpc>
              <a:buNone/>
            </a:pPr>
            <a:r>
              <a:rPr lang="en-US" sz="1300" b="1" dirty="0">
                <a:solidFill>
                  <a:srgbClr val="4B4A4A"/>
                </a:solidFill>
                <a:latin typeface="Geist" pitchFamily="34" charset="0"/>
                <a:ea typeface="Geist" pitchFamily="34" charset="-122"/>
                <a:cs typeface="Geist" pitchFamily="34" charset="-120"/>
              </a:rPr>
              <a:t>Fulfillment Banner:</a:t>
            </a:r>
            <a:r>
              <a:rPr lang="en-US" sz="1300" dirty="0">
                <a:solidFill>
                  <a:srgbClr val="4B4A4A"/>
                </a:solidFill>
                <a:latin typeface="Geist" pitchFamily="34" charset="0"/>
                <a:ea typeface="Geist" pitchFamily="34" charset="-122"/>
                <a:cs typeface="Geist" pitchFamily="34" charset="-120"/>
              </a:rPr>
              <a:t> "Perfectly Fulfilled" success banner appears when a user's queue is clear.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23530" y="1189673"/>
            <a:ext cx="6043613" cy="556736"/>
          </a:xfrm>
          <a:prstGeom prst="rect">
            <a:avLst/>
          </a:prstGeom>
          <a:noFill/>
          <a:ln/>
        </p:spPr>
        <p:txBody>
          <a:bodyPr wrap="none" lIns="0" tIns="0" rIns="0" bIns="0" rtlCol="0" anchor="t"/>
          <a:lstStyle/>
          <a:p>
            <a:pPr marL="0" indent="0" algn="l">
              <a:lnSpc>
                <a:spcPts val="4350"/>
              </a:lnSpc>
              <a:buNone/>
            </a:pPr>
            <a:r>
              <a:rPr lang="en-US" sz="3500" b="1" dirty="0">
                <a:solidFill>
                  <a:srgbClr val="006747"/>
                </a:solidFill>
                <a:latin typeface="Noto Serif SC Bold" pitchFamily="34" charset="0"/>
                <a:ea typeface="Noto Serif SC Bold" pitchFamily="34" charset="-122"/>
                <a:cs typeface="Noto Serif SC Bold" pitchFamily="34" charset="-120"/>
              </a:rPr>
              <a:t>Deployment &amp; Verification</a:t>
            </a:r>
            <a:endParaRPr lang="en-US" sz="3500" dirty="0"/>
          </a:p>
        </p:txBody>
      </p:sp>
      <p:sp>
        <p:nvSpPr>
          <p:cNvPr id="4" name="Text 1"/>
          <p:cNvSpPr/>
          <p:nvPr/>
        </p:nvSpPr>
        <p:spPr>
          <a:xfrm>
            <a:off x="623530" y="2013585"/>
            <a:ext cx="7896939" cy="569833"/>
          </a:xfrm>
          <a:prstGeom prst="rect">
            <a:avLst/>
          </a:prstGeom>
          <a:noFill/>
          <a:ln/>
        </p:spPr>
        <p:txBody>
          <a:bodyPr wrap="square" lIns="0" tIns="0" rIns="0" bIns="0" rtlCol="0" anchor="t"/>
          <a:lstStyle/>
          <a:p>
            <a:pPr marL="0" indent="0" algn="l">
              <a:lnSpc>
                <a:spcPts val="2200"/>
              </a:lnSpc>
              <a:buNone/>
            </a:pPr>
            <a:r>
              <a:rPr lang="en-US" sz="1400" dirty="0">
                <a:solidFill>
                  <a:srgbClr val="4B4A4A"/>
                </a:solidFill>
                <a:latin typeface="Geist" pitchFamily="34" charset="0"/>
                <a:ea typeface="Geist" pitchFamily="34" charset="-122"/>
                <a:cs typeface="Geist" pitchFamily="34" charset="-120"/>
              </a:rPr>
              <a:t>The application is fully containerized, rigorously tested, and deployed with robust security measures to ensure reliable and secure operations.</a:t>
            </a:r>
            <a:endParaRPr lang="en-US" sz="1400" dirty="0"/>
          </a:p>
        </p:txBody>
      </p:sp>
      <p:sp>
        <p:nvSpPr>
          <p:cNvPr id="5" name="Shape 2"/>
          <p:cNvSpPr/>
          <p:nvPr/>
        </p:nvSpPr>
        <p:spPr>
          <a:xfrm>
            <a:off x="623530" y="2783800"/>
            <a:ext cx="3859411" cy="2323862"/>
          </a:xfrm>
          <a:prstGeom prst="roundRect">
            <a:avLst>
              <a:gd name="adj" fmla="val 6900"/>
            </a:avLst>
          </a:prstGeom>
          <a:solidFill>
            <a:srgbClr val="D1EFE4"/>
          </a:solidFill>
          <a:ln w="7620">
            <a:solidFill>
              <a:srgbClr val="B7D5CA"/>
            </a:solidFill>
            <a:prstDash val="solid"/>
          </a:ln>
        </p:spPr>
        <p:txBody>
          <a:bodyPr/>
          <a:lstStyle/>
          <a:p>
            <a:endParaRPr lang="en-US"/>
          </a:p>
        </p:txBody>
      </p:sp>
      <p:sp>
        <p:nvSpPr>
          <p:cNvPr id="6" name="Shape 3"/>
          <p:cNvSpPr/>
          <p:nvPr/>
        </p:nvSpPr>
        <p:spPr>
          <a:xfrm>
            <a:off x="809268" y="2969538"/>
            <a:ext cx="534472" cy="534472"/>
          </a:xfrm>
          <a:prstGeom prst="roundRect">
            <a:avLst>
              <a:gd name="adj" fmla="val 17106763"/>
            </a:avLst>
          </a:prstGeom>
          <a:solidFill>
            <a:srgbClr val="006747"/>
          </a:solidFill>
          <a:ln/>
        </p:spPr>
        <p:txBody>
          <a:bodyPr/>
          <a:lstStyle/>
          <a:p>
            <a:endParaRPr lang="en-US"/>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6191" y="3116461"/>
            <a:ext cx="240506" cy="240506"/>
          </a:xfrm>
          <a:prstGeom prst="rect">
            <a:avLst/>
          </a:prstGeom>
        </p:spPr>
      </p:pic>
      <p:sp>
        <p:nvSpPr>
          <p:cNvPr id="8" name="Text 4"/>
          <p:cNvSpPr/>
          <p:nvPr/>
        </p:nvSpPr>
        <p:spPr>
          <a:xfrm>
            <a:off x="809268" y="3682127"/>
            <a:ext cx="3042285" cy="278249"/>
          </a:xfrm>
          <a:prstGeom prst="rect">
            <a:avLst/>
          </a:prstGeom>
          <a:noFill/>
          <a:ln/>
        </p:spPr>
        <p:txBody>
          <a:bodyPr wrap="none" lIns="0" tIns="0" rIns="0" bIns="0" rtlCol="0" anchor="t"/>
          <a:lstStyle/>
          <a:p>
            <a:pPr marL="0" indent="0" algn="l">
              <a:lnSpc>
                <a:spcPts val="2150"/>
              </a:lnSpc>
              <a:buNone/>
            </a:pPr>
            <a:r>
              <a:rPr lang="en-US" sz="1750" b="1" dirty="0">
                <a:solidFill>
                  <a:srgbClr val="4B4A4A"/>
                </a:solidFill>
                <a:latin typeface="Noto Serif SC Bold" pitchFamily="34" charset="0"/>
                <a:ea typeface="Noto Serif SC Bold" pitchFamily="34" charset="-122"/>
                <a:cs typeface="Noto Serif SC Bold" pitchFamily="34" charset="-120"/>
              </a:rPr>
              <a:t>Containerized Deployment</a:t>
            </a:r>
            <a:endParaRPr lang="en-US" sz="1750" dirty="0"/>
          </a:p>
        </p:txBody>
      </p:sp>
      <p:sp>
        <p:nvSpPr>
          <p:cNvPr id="9" name="Text 5"/>
          <p:cNvSpPr/>
          <p:nvPr/>
        </p:nvSpPr>
        <p:spPr>
          <a:xfrm>
            <a:off x="809268" y="4067175"/>
            <a:ext cx="3487936" cy="569833"/>
          </a:xfrm>
          <a:prstGeom prst="rect">
            <a:avLst/>
          </a:prstGeom>
          <a:noFill/>
          <a:ln/>
        </p:spPr>
        <p:txBody>
          <a:bodyPr wrap="square" lIns="0" tIns="0" rIns="0" bIns="0" rtlCol="0" anchor="t"/>
          <a:lstStyle/>
          <a:p>
            <a:pPr marL="0" indent="0" algn="l">
              <a:lnSpc>
                <a:spcPts val="2200"/>
              </a:lnSpc>
              <a:buNone/>
            </a:pPr>
            <a:r>
              <a:rPr lang="en-US" sz="1400" dirty="0">
                <a:solidFill>
                  <a:srgbClr val="4B4A4A"/>
                </a:solidFill>
                <a:latin typeface="Geist" pitchFamily="34" charset="0"/>
                <a:ea typeface="Geist" pitchFamily="34" charset="-122"/>
                <a:cs typeface="Geist" pitchFamily="34" charset="-120"/>
              </a:rPr>
              <a:t>Utilizing Docker &amp; Docker Compose for efficient orchestration and portability.</a:t>
            </a:r>
            <a:endParaRPr lang="en-US" sz="1400" dirty="0"/>
          </a:p>
        </p:txBody>
      </p:sp>
      <p:sp>
        <p:nvSpPr>
          <p:cNvPr id="10" name="Shape 6"/>
          <p:cNvSpPr/>
          <p:nvPr/>
        </p:nvSpPr>
        <p:spPr>
          <a:xfrm>
            <a:off x="4661059" y="2783800"/>
            <a:ext cx="3859411" cy="2323862"/>
          </a:xfrm>
          <a:prstGeom prst="roundRect">
            <a:avLst>
              <a:gd name="adj" fmla="val 6900"/>
            </a:avLst>
          </a:prstGeom>
          <a:solidFill>
            <a:srgbClr val="D1EFE4"/>
          </a:solidFill>
          <a:ln w="7620">
            <a:solidFill>
              <a:srgbClr val="B7D5CA"/>
            </a:solidFill>
            <a:prstDash val="solid"/>
          </a:ln>
        </p:spPr>
        <p:txBody>
          <a:bodyPr/>
          <a:lstStyle/>
          <a:p>
            <a:endParaRPr lang="en-US"/>
          </a:p>
        </p:txBody>
      </p:sp>
      <p:sp>
        <p:nvSpPr>
          <p:cNvPr id="11" name="Shape 7"/>
          <p:cNvSpPr/>
          <p:nvPr/>
        </p:nvSpPr>
        <p:spPr>
          <a:xfrm>
            <a:off x="4846796" y="2969538"/>
            <a:ext cx="534472" cy="534472"/>
          </a:xfrm>
          <a:prstGeom prst="roundRect">
            <a:avLst>
              <a:gd name="adj" fmla="val 17106763"/>
            </a:avLst>
          </a:prstGeom>
          <a:solidFill>
            <a:srgbClr val="006747"/>
          </a:solidFill>
          <a:ln/>
        </p:spPr>
        <p:txBody>
          <a:bodyPr/>
          <a:lstStyle/>
          <a:p>
            <a:endParaRPr lang="en-US"/>
          </a:p>
        </p:txBody>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93719" y="3116461"/>
            <a:ext cx="240506" cy="240506"/>
          </a:xfrm>
          <a:prstGeom prst="rect">
            <a:avLst/>
          </a:prstGeom>
        </p:spPr>
      </p:pic>
      <p:sp>
        <p:nvSpPr>
          <p:cNvPr id="13" name="Text 8"/>
          <p:cNvSpPr/>
          <p:nvPr/>
        </p:nvSpPr>
        <p:spPr>
          <a:xfrm>
            <a:off x="4846796" y="3682127"/>
            <a:ext cx="2765822" cy="278249"/>
          </a:xfrm>
          <a:prstGeom prst="rect">
            <a:avLst/>
          </a:prstGeom>
          <a:noFill/>
          <a:ln/>
        </p:spPr>
        <p:txBody>
          <a:bodyPr wrap="none" lIns="0" tIns="0" rIns="0" bIns="0" rtlCol="0" anchor="t"/>
          <a:lstStyle/>
          <a:p>
            <a:pPr marL="0" indent="0" algn="l">
              <a:lnSpc>
                <a:spcPts val="2150"/>
              </a:lnSpc>
              <a:buNone/>
            </a:pPr>
            <a:r>
              <a:rPr lang="en-US" sz="1750" b="1" dirty="0">
                <a:solidFill>
                  <a:srgbClr val="4B4A4A"/>
                </a:solidFill>
                <a:latin typeface="Noto Serif SC Bold" pitchFamily="34" charset="0"/>
                <a:ea typeface="Noto Serif SC Bold" pitchFamily="34" charset="-122"/>
                <a:cs typeface="Noto Serif SC Bold" pitchFamily="34" charset="-120"/>
              </a:rPr>
              <a:t>100% Green Build Status</a:t>
            </a:r>
            <a:endParaRPr lang="en-US" sz="1750" dirty="0"/>
          </a:p>
        </p:txBody>
      </p:sp>
      <p:sp>
        <p:nvSpPr>
          <p:cNvPr id="14" name="Text 9"/>
          <p:cNvSpPr/>
          <p:nvPr/>
        </p:nvSpPr>
        <p:spPr>
          <a:xfrm>
            <a:off x="4846796" y="4067175"/>
            <a:ext cx="3487936" cy="854750"/>
          </a:xfrm>
          <a:prstGeom prst="rect">
            <a:avLst/>
          </a:prstGeom>
          <a:noFill/>
          <a:ln/>
        </p:spPr>
        <p:txBody>
          <a:bodyPr wrap="square" lIns="0" tIns="0" rIns="0" bIns="0" rtlCol="0" anchor="t"/>
          <a:lstStyle/>
          <a:p>
            <a:pPr marL="0" indent="0" algn="l">
              <a:lnSpc>
                <a:spcPts val="2200"/>
              </a:lnSpc>
              <a:buNone/>
            </a:pPr>
            <a:r>
              <a:rPr lang="en-US" sz="1400" dirty="0">
                <a:solidFill>
                  <a:srgbClr val="4B4A4A"/>
                </a:solidFill>
                <a:latin typeface="Geist" pitchFamily="34" charset="0"/>
                <a:ea typeface="Geist" pitchFamily="34" charset="-122"/>
                <a:cs typeface="Geist" pitchFamily="34" charset="-120"/>
              </a:rPr>
              <a:t>Maven &amp; Angular Production builds consistently pass, ensuring high quality and stability.</a:t>
            </a:r>
            <a:endParaRPr lang="en-US" sz="1400" dirty="0"/>
          </a:p>
        </p:txBody>
      </p:sp>
      <p:sp>
        <p:nvSpPr>
          <p:cNvPr id="15" name="Shape 10"/>
          <p:cNvSpPr/>
          <p:nvPr/>
        </p:nvSpPr>
        <p:spPr>
          <a:xfrm>
            <a:off x="623530" y="5285780"/>
            <a:ext cx="7896939" cy="1754029"/>
          </a:xfrm>
          <a:prstGeom prst="roundRect">
            <a:avLst>
              <a:gd name="adj" fmla="val 9142"/>
            </a:avLst>
          </a:prstGeom>
          <a:solidFill>
            <a:srgbClr val="D1EFE4"/>
          </a:solidFill>
          <a:ln w="7620">
            <a:solidFill>
              <a:srgbClr val="B7D5CA"/>
            </a:solidFill>
            <a:prstDash val="solid"/>
          </a:ln>
        </p:spPr>
        <p:txBody>
          <a:bodyPr/>
          <a:lstStyle/>
          <a:p>
            <a:endParaRPr lang="en-US"/>
          </a:p>
        </p:txBody>
      </p:sp>
      <p:sp>
        <p:nvSpPr>
          <p:cNvPr id="16" name="Shape 11"/>
          <p:cNvSpPr/>
          <p:nvPr/>
        </p:nvSpPr>
        <p:spPr>
          <a:xfrm>
            <a:off x="809268" y="5471517"/>
            <a:ext cx="534472" cy="534472"/>
          </a:xfrm>
          <a:prstGeom prst="roundRect">
            <a:avLst>
              <a:gd name="adj" fmla="val 17106763"/>
            </a:avLst>
          </a:prstGeom>
          <a:solidFill>
            <a:srgbClr val="006747"/>
          </a:solidFill>
          <a:ln/>
        </p:spPr>
        <p:txBody>
          <a:bodyPr/>
          <a:lstStyle/>
          <a:p>
            <a:endParaRPr lang="en-US"/>
          </a:p>
        </p:txBody>
      </p:sp>
      <p:pic>
        <p:nvPicPr>
          <p:cNvPr id="17"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6191" y="5618440"/>
            <a:ext cx="240506" cy="240506"/>
          </a:xfrm>
          <a:prstGeom prst="rect">
            <a:avLst/>
          </a:prstGeom>
        </p:spPr>
      </p:pic>
      <p:sp>
        <p:nvSpPr>
          <p:cNvPr id="18" name="Text 12"/>
          <p:cNvSpPr/>
          <p:nvPr/>
        </p:nvSpPr>
        <p:spPr>
          <a:xfrm>
            <a:off x="809268" y="6184106"/>
            <a:ext cx="2673787" cy="278249"/>
          </a:xfrm>
          <a:prstGeom prst="rect">
            <a:avLst/>
          </a:prstGeom>
          <a:noFill/>
          <a:ln/>
        </p:spPr>
        <p:txBody>
          <a:bodyPr wrap="none" lIns="0" tIns="0" rIns="0" bIns="0" rtlCol="0" anchor="t"/>
          <a:lstStyle/>
          <a:p>
            <a:pPr marL="0" indent="0" algn="l">
              <a:lnSpc>
                <a:spcPts val="2150"/>
              </a:lnSpc>
              <a:buNone/>
            </a:pPr>
            <a:r>
              <a:rPr lang="en-US" sz="1750" b="1" dirty="0">
                <a:solidFill>
                  <a:srgbClr val="4B4A4A"/>
                </a:solidFill>
                <a:latin typeface="Noto Serif SC Bold" pitchFamily="34" charset="0"/>
                <a:ea typeface="Noto Serif SC Bold" pitchFamily="34" charset="-122"/>
                <a:cs typeface="Noto Serif SC Bold" pitchFamily="34" charset="-120"/>
              </a:rPr>
              <a:t>Stateless RBAC Security</a:t>
            </a:r>
            <a:endParaRPr lang="en-US" sz="1750" dirty="0"/>
          </a:p>
        </p:txBody>
      </p:sp>
      <p:sp>
        <p:nvSpPr>
          <p:cNvPr id="19" name="Text 13"/>
          <p:cNvSpPr/>
          <p:nvPr/>
        </p:nvSpPr>
        <p:spPr>
          <a:xfrm>
            <a:off x="809268" y="6569154"/>
            <a:ext cx="7525464" cy="284917"/>
          </a:xfrm>
          <a:prstGeom prst="rect">
            <a:avLst/>
          </a:prstGeom>
          <a:noFill/>
          <a:ln/>
        </p:spPr>
        <p:txBody>
          <a:bodyPr wrap="none" lIns="0" tIns="0" rIns="0" bIns="0" rtlCol="0" anchor="t"/>
          <a:lstStyle/>
          <a:p>
            <a:pPr marL="0" indent="0" algn="l">
              <a:lnSpc>
                <a:spcPts val="2200"/>
              </a:lnSpc>
              <a:buNone/>
            </a:pPr>
            <a:r>
              <a:rPr lang="en-US" sz="1400" dirty="0">
                <a:solidFill>
                  <a:srgbClr val="4B4A4A"/>
                </a:solidFill>
                <a:latin typeface="Geist" pitchFamily="34" charset="0"/>
                <a:ea typeface="Geist" pitchFamily="34" charset="-122"/>
                <a:cs typeface="Geist" pitchFamily="34" charset="-120"/>
              </a:rPr>
              <a:t>Role-Based Access Control enforced at every endpoint for maximum data protection.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90987" y="738188"/>
            <a:ext cx="7723823" cy="450652"/>
          </a:xfrm>
          <a:prstGeom prst="rect">
            <a:avLst/>
          </a:prstGeom>
          <a:noFill/>
          <a:ln/>
        </p:spPr>
        <p:txBody>
          <a:bodyPr wrap="none" lIns="0" tIns="0" rIns="0" bIns="0" rtlCol="0" anchor="t"/>
          <a:lstStyle/>
          <a:p>
            <a:pPr marL="0" indent="0" algn="l">
              <a:lnSpc>
                <a:spcPts val="3500"/>
              </a:lnSpc>
              <a:buNone/>
            </a:pPr>
            <a:r>
              <a:rPr lang="en-US" sz="2800" b="1" dirty="0">
                <a:solidFill>
                  <a:srgbClr val="006747"/>
                </a:solidFill>
                <a:latin typeface="Noto Serif SC Bold" pitchFamily="34" charset="0"/>
                <a:ea typeface="Noto Serif SC Bold" pitchFamily="34" charset="-122"/>
                <a:cs typeface="Noto Serif SC Bold" pitchFamily="34" charset="-120"/>
              </a:rPr>
              <a:t>Future Roadmap: Strategic Enhancements</a:t>
            </a:r>
            <a:endParaRPr lang="en-US" sz="2800" dirty="0"/>
          </a:p>
        </p:txBody>
      </p:sp>
      <p:sp>
        <p:nvSpPr>
          <p:cNvPr id="4" name="Text 1"/>
          <p:cNvSpPr/>
          <p:nvPr/>
        </p:nvSpPr>
        <p:spPr>
          <a:xfrm>
            <a:off x="5990987" y="1405057"/>
            <a:ext cx="8134826" cy="461248"/>
          </a:xfrm>
          <a:prstGeom prst="rect">
            <a:avLst/>
          </a:prstGeom>
          <a:noFill/>
          <a:ln/>
        </p:spPr>
        <p:txBody>
          <a:bodyPr wrap="square" lIns="0" tIns="0" rIns="0" bIns="0" rtlCol="0" anchor="t"/>
          <a:lstStyle/>
          <a:p>
            <a:pPr marL="0" indent="0" algn="l">
              <a:lnSpc>
                <a:spcPts val="1800"/>
              </a:lnSpc>
              <a:buNone/>
            </a:pPr>
            <a:r>
              <a:rPr lang="en-US" sz="1100" dirty="0">
                <a:solidFill>
                  <a:srgbClr val="4B4A4A"/>
                </a:solidFill>
                <a:latin typeface="Geist" pitchFamily="34" charset="0"/>
                <a:ea typeface="Geist" pitchFamily="34" charset="-122"/>
                <a:cs typeface="Geist" pitchFamily="34" charset="-120"/>
              </a:rPr>
              <a:t>Our vision extends to integrating cutting-edge technologies and expanding functionalities to further optimize go-kart operations and customer experience.</a:t>
            </a:r>
            <a:endParaRPr lang="en-US" sz="11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45041" y="2055495"/>
            <a:ext cx="216218" cy="216218"/>
          </a:xfrm>
          <a:prstGeom prst="rect">
            <a:avLst/>
          </a:prstGeom>
        </p:spPr>
      </p:pic>
      <p:sp>
        <p:nvSpPr>
          <p:cNvPr id="6" name="Text 2"/>
          <p:cNvSpPr/>
          <p:nvPr/>
        </p:nvSpPr>
        <p:spPr>
          <a:xfrm>
            <a:off x="6459498" y="2028468"/>
            <a:ext cx="3540443" cy="270391"/>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Real-time Telemetry Integration</a:t>
            </a:r>
            <a:endParaRPr lang="en-US" sz="1700" dirty="0"/>
          </a:p>
        </p:txBody>
      </p:sp>
      <p:sp>
        <p:nvSpPr>
          <p:cNvPr id="7" name="Text 3"/>
          <p:cNvSpPr/>
          <p:nvPr/>
        </p:nvSpPr>
        <p:spPr>
          <a:xfrm>
            <a:off x="6459498" y="2385298"/>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Bluetooth/API integration with kart sensors for live data.</a:t>
            </a:r>
            <a:endParaRPr lang="en-US" sz="1100" dirty="0"/>
          </a:p>
        </p:txBody>
      </p:sp>
      <p:sp>
        <p:nvSpPr>
          <p:cNvPr id="8" name="Text 4"/>
          <p:cNvSpPr/>
          <p:nvPr/>
        </p:nvSpPr>
        <p:spPr>
          <a:xfrm>
            <a:off x="6459498" y="2666286"/>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Monitoring of speed, engine temperature, and battery.</a:t>
            </a:r>
            <a:endParaRPr lang="en-US" sz="1100" dirty="0"/>
          </a:p>
        </p:txBody>
      </p:sp>
      <p:sp>
        <p:nvSpPr>
          <p:cNvPr id="9" name="Text 5"/>
          <p:cNvSpPr/>
          <p:nvPr/>
        </p:nvSpPr>
        <p:spPr>
          <a:xfrm>
            <a:off x="6459498" y="2947273"/>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Predictive maintenance alerts based on sensor data.</a:t>
            </a:r>
            <a:endParaRPr lang="en-US" sz="1100" dirty="0"/>
          </a:p>
        </p:txBody>
      </p:sp>
      <p:pic>
        <p:nvPicPr>
          <p:cNvPr id="10"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45041" y="3493294"/>
            <a:ext cx="216218" cy="216218"/>
          </a:xfrm>
          <a:prstGeom prst="rect">
            <a:avLst/>
          </a:prstGeom>
        </p:spPr>
      </p:pic>
      <p:sp>
        <p:nvSpPr>
          <p:cNvPr id="11" name="Text 6"/>
          <p:cNvSpPr/>
          <p:nvPr/>
        </p:nvSpPr>
        <p:spPr>
          <a:xfrm>
            <a:off x="6459498" y="3466267"/>
            <a:ext cx="2213729" cy="270391"/>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Mobile Applications</a:t>
            </a:r>
            <a:endParaRPr lang="en-US" sz="1700" dirty="0"/>
          </a:p>
        </p:txBody>
      </p:sp>
      <p:sp>
        <p:nvSpPr>
          <p:cNvPr id="12" name="Text 7"/>
          <p:cNvSpPr/>
          <p:nvPr/>
        </p:nvSpPr>
        <p:spPr>
          <a:xfrm>
            <a:off x="6459498" y="3823097"/>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React Native cross-platform app for mechanics.</a:t>
            </a:r>
            <a:endParaRPr lang="en-US" sz="1100" dirty="0"/>
          </a:p>
        </p:txBody>
      </p:sp>
      <p:sp>
        <p:nvSpPr>
          <p:cNvPr id="13" name="Text 8"/>
          <p:cNvSpPr/>
          <p:nvPr/>
        </p:nvSpPr>
        <p:spPr>
          <a:xfrm>
            <a:off x="6459498" y="4104084"/>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Barcode/QR code scanning for parts and karts.</a:t>
            </a:r>
            <a:endParaRPr lang="en-US" sz="1100" dirty="0"/>
          </a:p>
        </p:txBody>
      </p:sp>
      <p:sp>
        <p:nvSpPr>
          <p:cNvPr id="14" name="Text 9"/>
          <p:cNvSpPr/>
          <p:nvPr/>
        </p:nvSpPr>
        <p:spPr>
          <a:xfrm>
            <a:off x="6459498" y="4385072"/>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Offline capability with sync when online.</a:t>
            </a:r>
            <a:endParaRPr lang="en-US" sz="1100" dirty="0"/>
          </a:p>
        </p:txBody>
      </p:sp>
      <p:pic>
        <p:nvPicPr>
          <p:cNvPr id="15"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45041" y="4931093"/>
            <a:ext cx="216218" cy="216218"/>
          </a:xfrm>
          <a:prstGeom prst="rect">
            <a:avLst/>
          </a:prstGeom>
        </p:spPr>
      </p:pic>
      <p:sp>
        <p:nvSpPr>
          <p:cNvPr id="16" name="Text 10"/>
          <p:cNvSpPr/>
          <p:nvPr/>
        </p:nvSpPr>
        <p:spPr>
          <a:xfrm>
            <a:off x="6459498" y="4904065"/>
            <a:ext cx="2795468" cy="270391"/>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Advanced Analytics &amp; ML</a:t>
            </a:r>
            <a:endParaRPr lang="en-US" sz="1700" dirty="0"/>
          </a:p>
        </p:txBody>
      </p:sp>
      <p:sp>
        <p:nvSpPr>
          <p:cNvPr id="17" name="Text 11"/>
          <p:cNvSpPr/>
          <p:nvPr/>
        </p:nvSpPr>
        <p:spPr>
          <a:xfrm>
            <a:off x="6459498" y="5260896"/>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Predictive failure analysis using historical data.</a:t>
            </a:r>
            <a:endParaRPr lang="en-US" sz="1100" dirty="0"/>
          </a:p>
        </p:txBody>
      </p:sp>
      <p:sp>
        <p:nvSpPr>
          <p:cNvPr id="18" name="Text 12"/>
          <p:cNvSpPr/>
          <p:nvPr/>
        </p:nvSpPr>
        <p:spPr>
          <a:xfrm>
            <a:off x="6459498" y="5541883"/>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Optimal maintenance scheduling algorithms.</a:t>
            </a:r>
            <a:endParaRPr lang="en-US" sz="1100" dirty="0"/>
          </a:p>
        </p:txBody>
      </p:sp>
      <p:sp>
        <p:nvSpPr>
          <p:cNvPr id="19" name="Text 13"/>
          <p:cNvSpPr/>
          <p:nvPr/>
        </p:nvSpPr>
        <p:spPr>
          <a:xfrm>
            <a:off x="6459498" y="5822871"/>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Cost-benefit analysis for part replacement vs. repair.</a:t>
            </a:r>
            <a:endParaRPr lang="en-US" sz="1100" dirty="0"/>
          </a:p>
        </p:txBody>
      </p:sp>
      <p:pic>
        <p:nvPicPr>
          <p:cNvPr id="20"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45041" y="6368891"/>
            <a:ext cx="216218" cy="216218"/>
          </a:xfrm>
          <a:prstGeom prst="rect">
            <a:avLst/>
          </a:prstGeom>
        </p:spPr>
      </p:pic>
      <p:sp>
        <p:nvSpPr>
          <p:cNvPr id="21" name="Text 14"/>
          <p:cNvSpPr/>
          <p:nvPr/>
        </p:nvSpPr>
        <p:spPr>
          <a:xfrm>
            <a:off x="6459498" y="6341864"/>
            <a:ext cx="2162770" cy="270391"/>
          </a:xfrm>
          <a:prstGeom prst="rect">
            <a:avLst/>
          </a:prstGeom>
          <a:noFill/>
          <a:ln/>
        </p:spPr>
        <p:txBody>
          <a:bodyPr wrap="none" lIns="0" tIns="0" rIns="0" bIns="0" rtlCol="0" anchor="t"/>
          <a:lstStyle/>
          <a:p>
            <a:pPr marL="0" indent="0" algn="l">
              <a:lnSpc>
                <a:spcPts val="2100"/>
              </a:lnSpc>
              <a:buNone/>
            </a:pPr>
            <a:r>
              <a:rPr lang="en-US" sz="1700" b="1" dirty="0">
                <a:solidFill>
                  <a:srgbClr val="4B4A4A"/>
                </a:solidFill>
                <a:latin typeface="Noto Serif SC Bold" pitchFamily="34" charset="0"/>
                <a:ea typeface="Noto Serif SC Bold" pitchFamily="34" charset="-122"/>
                <a:cs typeface="Noto Serif SC Bold" pitchFamily="34" charset="-120"/>
              </a:rPr>
              <a:t>Customer Portal</a:t>
            </a:r>
            <a:endParaRPr lang="en-US" sz="1700" dirty="0"/>
          </a:p>
        </p:txBody>
      </p:sp>
      <p:sp>
        <p:nvSpPr>
          <p:cNvPr id="22" name="Text 15"/>
          <p:cNvSpPr/>
          <p:nvPr/>
        </p:nvSpPr>
        <p:spPr>
          <a:xfrm>
            <a:off x="6459498" y="6698694"/>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Booking integration for kart sessions.</a:t>
            </a:r>
            <a:endParaRPr lang="en-US" sz="1100" dirty="0"/>
          </a:p>
        </p:txBody>
      </p:sp>
      <p:sp>
        <p:nvSpPr>
          <p:cNvPr id="23" name="Text 16"/>
          <p:cNvSpPr/>
          <p:nvPr/>
        </p:nvSpPr>
        <p:spPr>
          <a:xfrm>
            <a:off x="6459498" y="6979682"/>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Customer-facing maintenance status updates.</a:t>
            </a:r>
            <a:endParaRPr lang="en-US" sz="1100" dirty="0"/>
          </a:p>
        </p:txBody>
      </p:sp>
      <p:sp>
        <p:nvSpPr>
          <p:cNvPr id="24" name="Text 17"/>
          <p:cNvSpPr/>
          <p:nvPr/>
        </p:nvSpPr>
        <p:spPr>
          <a:xfrm>
            <a:off x="6459498" y="7260669"/>
            <a:ext cx="7666315" cy="230624"/>
          </a:xfrm>
          <a:prstGeom prst="rect">
            <a:avLst/>
          </a:prstGeom>
          <a:noFill/>
          <a:ln/>
        </p:spPr>
        <p:txBody>
          <a:bodyPr wrap="none" lIns="0" tIns="0" rIns="0" bIns="0" rtlCol="0" anchor="t"/>
          <a:lstStyle/>
          <a:p>
            <a:pPr marL="342900" indent="-342900" algn="l">
              <a:lnSpc>
                <a:spcPts val="1800"/>
              </a:lnSpc>
              <a:buSzPct val="100000"/>
              <a:buChar char="•"/>
            </a:pPr>
            <a:r>
              <a:rPr lang="en-US" sz="1100" dirty="0">
                <a:solidFill>
                  <a:srgbClr val="4B4A4A"/>
                </a:solidFill>
                <a:latin typeface="Geist" pitchFamily="34" charset="0"/>
                <a:ea typeface="Geist" pitchFamily="34" charset="-122"/>
                <a:cs typeface="Geist" pitchFamily="34" charset="-120"/>
              </a:rPr>
              <a:t>Incident reporting by customers for prompt resolution.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21638" y="1385411"/>
            <a:ext cx="7700724" cy="1288733"/>
          </a:xfrm>
          <a:prstGeom prst="rect">
            <a:avLst/>
          </a:prstGeom>
          <a:noFill/>
          <a:ln/>
        </p:spPr>
        <p:txBody>
          <a:bodyPr wrap="square" lIns="0" tIns="0" rIns="0" bIns="0" rtlCol="0" anchor="t"/>
          <a:lstStyle/>
          <a:p>
            <a:pPr marL="0" indent="0" algn="l">
              <a:lnSpc>
                <a:spcPts val="5050"/>
              </a:lnSpc>
              <a:buNone/>
            </a:pPr>
            <a:r>
              <a:rPr lang="en-US" sz="4050" b="1" dirty="0">
                <a:solidFill>
                  <a:srgbClr val="006747"/>
                </a:solidFill>
                <a:latin typeface="Noto Serif SC Bold" pitchFamily="34" charset="0"/>
                <a:ea typeface="Noto Serif SC Bold" pitchFamily="34" charset="-122"/>
                <a:cs typeface="Noto Serif SC Bold" pitchFamily="34" charset="-120"/>
              </a:rPr>
              <a:t>Conclusion: A Production-Ready Platform</a:t>
            </a:r>
            <a:endParaRPr lang="en-US" sz="4050" dirty="0"/>
          </a:p>
        </p:txBody>
      </p:sp>
      <p:sp>
        <p:nvSpPr>
          <p:cNvPr id="4" name="Text 1"/>
          <p:cNvSpPr/>
          <p:nvPr/>
        </p:nvSpPr>
        <p:spPr>
          <a:xfrm>
            <a:off x="721638" y="2983349"/>
            <a:ext cx="7700724" cy="1319689"/>
          </a:xfrm>
          <a:prstGeom prst="rect">
            <a:avLst/>
          </a:prstGeom>
          <a:noFill/>
          <a:ln/>
        </p:spPr>
        <p:txBody>
          <a:bodyPr wrap="square" lIns="0" tIns="0" rIns="0" bIns="0" rtlCol="0" anchor="t"/>
          <a:lstStyle/>
          <a:p>
            <a:pPr marL="0" indent="0" algn="l">
              <a:lnSpc>
                <a:spcPts val="2550"/>
              </a:lnSpc>
              <a:buNone/>
            </a:pPr>
            <a:r>
              <a:rPr lang="en-US" sz="1600" dirty="0">
                <a:solidFill>
                  <a:srgbClr val="4B4A4A"/>
                </a:solidFill>
                <a:latin typeface="Geist" pitchFamily="34" charset="0"/>
                <a:ea typeface="Geist" pitchFamily="34" charset="-122"/>
                <a:cs typeface="Geist" pitchFamily="34" charset="-120"/>
              </a:rPr>
              <a:t>The Go Kart Warehouse System stands as a robust, production-ready platform, meticulously designed to meet the demanding needs of professional racing environments. Its integration of a strict safety verification loop and an advanced hierarchical task system positions it as a top-tier management solution.</a:t>
            </a:r>
            <a:endParaRPr lang="en-US" sz="1600" dirty="0"/>
          </a:p>
        </p:txBody>
      </p:sp>
      <p:sp>
        <p:nvSpPr>
          <p:cNvPr id="5" name="Text 2"/>
          <p:cNvSpPr/>
          <p:nvPr/>
        </p:nvSpPr>
        <p:spPr>
          <a:xfrm>
            <a:off x="721638" y="4612243"/>
            <a:ext cx="3093006" cy="386596"/>
          </a:xfrm>
          <a:prstGeom prst="rect">
            <a:avLst/>
          </a:prstGeom>
          <a:noFill/>
          <a:ln/>
        </p:spPr>
        <p:txBody>
          <a:bodyPr wrap="none" lIns="0" tIns="0" rIns="0" bIns="0" rtlCol="0" anchor="t"/>
          <a:lstStyle/>
          <a:p>
            <a:pPr marL="0" indent="0" algn="l">
              <a:lnSpc>
                <a:spcPts val="3000"/>
              </a:lnSpc>
              <a:buNone/>
            </a:pPr>
            <a:r>
              <a:rPr lang="en-US" sz="2400" b="1" dirty="0">
                <a:solidFill>
                  <a:srgbClr val="006747"/>
                </a:solidFill>
                <a:latin typeface="Noto Serif SC Bold" pitchFamily="34" charset="0"/>
                <a:ea typeface="Noto Serif SC Bold" pitchFamily="34" charset="-122"/>
                <a:cs typeface="Noto Serif SC Bold" pitchFamily="34" charset="-120"/>
              </a:rPr>
              <a:t>Key Strengths:</a:t>
            </a:r>
            <a:endParaRPr lang="en-US" sz="2400" dirty="0"/>
          </a:p>
        </p:txBody>
      </p:sp>
      <p:sp>
        <p:nvSpPr>
          <p:cNvPr id="6" name="Text 3"/>
          <p:cNvSpPr/>
          <p:nvPr/>
        </p:nvSpPr>
        <p:spPr>
          <a:xfrm>
            <a:off x="721638" y="5308044"/>
            <a:ext cx="7700724"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B4A4A"/>
                </a:solidFill>
                <a:latin typeface="Geist" pitchFamily="34" charset="0"/>
                <a:ea typeface="Geist" pitchFamily="34" charset="-122"/>
                <a:cs typeface="Geist" pitchFamily="34" charset="-120"/>
              </a:rPr>
              <a:t>Operational Efficiency:</a:t>
            </a:r>
            <a:r>
              <a:rPr lang="en-US" sz="1600" dirty="0">
                <a:solidFill>
                  <a:srgbClr val="4B4A4A"/>
                </a:solidFill>
                <a:latin typeface="Geist" pitchFamily="34" charset="0"/>
                <a:ea typeface="Geist" pitchFamily="34" charset="-122"/>
                <a:cs typeface="Geist" pitchFamily="34" charset="-120"/>
              </a:rPr>
              <a:t> Streamlined processes from fleet to inventory.</a:t>
            </a:r>
            <a:endParaRPr lang="en-US" sz="1600" dirty="0"/>
          </a:p>
        </p:txBody>
      </p:sp>
      <p:sp>
        <p:nvSpPr>
          <p:cNvPr id="7" name="Text 4"/>
          <p:cNvSpPr/>
          <p:nvPr/>
        </p:nvSpPr>
        <p:spPr>
          <a:xfrm>
            <a:off x="721638" y="5710118"/>
            <a:ext cx="7700724"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B4A4A"/>
                </a:solidFill>
                <a:latin typeface="Geist" pitchFamily="34" charset="0"/>
                <a:ea typeface="Geist" pitchFamily="34" charset="-122"/>
                <a:cs typeface="Geist" pitchFamily="34" charset="-120"/>
              </a:rPr>
              <a:t>Enhanced Accountability:</a:t>
            </a:r>
            <a:r>
              <a:rPr lang="en-US" sz="1600" dirty="0">
                <a:solidFill>
                  <a:srgbClr val="4B4A4A"/>
                </a:solidFill>
                <a:latin typeface="Geist" pitchFamily="34" charset="0"/>
                <a:ea typeface="Geist" pitchFamily="34" charset="-122"/>
                <a:cs typeface="Geist" pitchFamily="34" charset="-120"/>
              </a:rPr>
              <a:t> Rigorous task assignment and verification.</a:t>
            </a:r>
            <a:endParaRPr lang="en-US" sz="1600" dirty="0"/>
          </a:p>
        </p:txBody>
      </p:sp>
      <p:sp>
        <p:nvSpPr>
          <p:cNvPr id="8" name="Text 5"/>
          <p:cNvSpPr/>
          <p:nvPr/>
        </p:nvSpPr>
        <p:spPr>
          <a:xfrm>
            <a:off x="721638" y="6112193"/>
            <a:ext cx="7700724"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B4A4A"/>
                </a:solidFill>
                <a:latin typeface="Geist" pitchFamily="34" charset="0"/>
                <a:ea typeface="Geist" pitchFamily="34" charset="-122"/>
                <a:cs typeface="Geist" pitchFamily="34" charset="-120"/>
              </a:rPr>
              <a:t>Robust Architecture:</a:t>
            </a:r>
            <a:r>
              <a:rPr lang="en-US" sz="1600" dirty="0">
                <a:solidFill>
                  <a:srgbClr val="4B4A4A"/>
                </a:solidFill>
                <a:latin typeface="Geist" pitchFamily="34" charset="0"/>
                <a:ea typeface="Geist" pitchFamily="34" charset="-122"/>
                <a:cs typeface="Geist" pitchFamily="34" charset="-120"/>
              </a:rPr>
              <a:t> Scalable, secure, and high-performance.</a:t>
            </a:r>
            <a:endParaRPr lang="en-US" sz="1600" dirty="0"/>
          </a:p>
        </p:txBody>
      </p:sp>
      <p:sp>
        <p:nvSpPr>
          <p:cNvPr id="9" name="Text 6"/>
          <p:cNvSpPr/>
          <p:nvPr/>
        </p:nvSpPr>
        <p:spPr>
          <a:xfrm>
            <a:off x="721638" y="6514267"/>
            <a:ext cx="7700724" cy="329922"/>
          </a:xfrm>
          <a:prstGeom prst="rect">
            <a:avLst/>
          </a:prstGeom>
          <a:noFill/>
          <a:ln/>
        </p:spPr>
        <p:txBody>
          <a:bodyPr wrap="none" lIns="0" tIns="0" rIns="0" bIns="0" rtlCol="0" anchor="t"/>
          <a:lstStyle/>
          <a:p>
            <a:pPr marL="342900" indent="-342900" algn="l">
              <a:lnSpc>
                <a:spcPts val="2550"/>
              </a:lnSpc>
              <a:buSzPct val="100000"/>
              <a:buChar char="•"/>
            </a:pPr>
            <a:r>
              <a:rPr lang="en-US" sz="1600" b="1" dirty="0">
                <a:solidFill>
                  <a:srgbClr val="4B4A4A"/>
                </a:solidFill>
                <a:latin typeface="Geist" pitchFamily="34" charset="0"/>
                <a:ea typeface="Geist" pitchFamily="34" charset="-122"/>
                <a:cs typeface="Geist" pitchFamily="34" charset="-120"/>
              </a:rPr>
              <a:t>Future-Proof:</a:t>
            </a:r>
            <a:r>
              <a:rPr lang="en-US" sz="1600" dirty="0">
                <a:solidFill>
                  <a:srgbClr val="4B4A4A"/>
                </a:solidFill>
                <a:latin typeface="Geist" pitchFamily="34" charset="0"/>
                <a:ea typeface="Geist" pitchFamily="34" charset="-122"/>
                <a:cs typeface="Geist" pitchFamily="34" charset="-120"/>
              </a:rPr>
              <a:t> Clear roadmap for continued innovation and growth.</a:t>
            </a:r>
            <a:endParaRPr lang="en-US" sz="16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15</TotalTime>
  <Words>933</Words>
  <Application>Microsoft Office PowerPoint</Application>
  <PresentationFormat>Custom</PresentationFormat>
  <Paragraphs>99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Geist</vt:lpstr>
      <vt:lpstr>Arial</vt:lpstr>
      <vt:lpstr>Noto Serif SC Bold</vt:lpstr>
      <vt:lpstr>Times New Roman</vt:lpstr>
      <vt:lpstr>Calibri Light</vt:lpstr>
      <vt:lpstr>Calibri</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Opoka John Modi Silvio</cp:lastModifiedBy>
  <cp:revision>1</cp:revision>
  <dcterms:created xsi:type="dcterms:W3CDTF">2026-01-26T14:12:06Z</dcterms:created>
  <dcterms:modified xsi:type="dcterms:W3CDTF">2026-01-27T01:18:04Z</dcterms:modified>
</cp:coreProperties>
</file>